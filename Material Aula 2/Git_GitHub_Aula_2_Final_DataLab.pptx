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29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1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7.xml.rels" ContentType="application/vnd.openxmlformats-package.relationships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BE82338-9387-4D2E-891C-C8536E70E1C2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43724B-14CA-439F-8E58-87FF33380D8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70" name="PlaceHolder 2"/>
          <p:cNvSpPr>
            <a:spLocks noGrp="1"/>
          </p:cNvSpPr>
          <p:nvPr>
            <p:ph type="dt" idx="8"/>
          </p:nvPr>
        </p:nvSpPr>
        <p:spPr>
          <a:xfrm>
            <a:off x="5180040" y="0"/>
            <a:ext cx="396216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" spc="-1" strike="noStrike">
                <a:solidFill>
                  <a:schemeClr val="dk1"/>
                </a:solidFill>
                <a:latin typeface="Calibri"/>
                <a:ea typeface="Calibri"/>
              </a:rPr>
              <a:t>1.7.2013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 type="sldImg"/>
          </p:nvPr>
        </p:nvSpPr>
        <p:spPr>
          <a:xfrm>
            <a:off x="2857680" y="683280"/>
            <a:ext cx="3428640" cy="342252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4"/>
          <p:cNvSpPr>
            <a:spLocks noGrp="1"/>
          </p:cNvSpPr>
          <p:nvPr>
            <p:ph type="body"/>
          </p:nvPr>
        </p:nvSpPr>
        <p:spPr>
          <a:xfrm>
            <a:off x="914400" y="4334760"/>
            <a:ext cx="7314840" cy="410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1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5"/>
          <p:cNvSpPr>
            <a:spLocks noGrp="1"/>
          </p:cNvSpPr>
          <p:nvPr>
            <p:ph type="ftr" idx="9"/>
          </p:nvPr>
        </p:nvSpPr>
        <p:spPr>
          <a:xfrm>
            <a:off x="0" y="8669520"/>
            <a:ext cx="3962160" cy="45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74" name="PlaceHolder 6"/>
          <p:cNvSpPr>
            <a:spLocks noGrp="1"/>
          </p:cNvSpPr>
          <p:nvPr>
            <p:ph type="sldNum" idx="10"/>
          </p:nvPr>
        </p:nvSpPr>
        <p:spPr>
          <a:xfrm>
            <a:off x="5180040" y="8669520"/>
            <a:ext cx="3962160" cy="45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200" spc="-1" strike="noStrike">
                <a:solidFill>
                  <a:schemeClr val="dk1"/>
                </a:solidFill>
                <a:latin typeface="Calibri"/>
                <a:ea typeface="Calibri"/>
              </a:rPr>
              <a:t>‹</a:t>
            </a:r>
            <a:r>
              <a:rPr b="0" lang="pt-BR" sz="1200" spc="-1" strike="noStrike">
                <a:solidFill>
                  <a:schemeClr val="dk1"/>
                </a:solidFill>
                <a:latin typeface="Calibri"/>
                <a:ea typeface="Calibri"/>
              </a:rPr>
              <a:t>#›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25A6DA-C402-403A-86CB-7653622EC2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B74E06-817D-423A-9109-2C5E323E66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9B96CB-DB0D-4D03-AE7A-4B20AA81DB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518B92-2698-4515-A3A6-11D7A957B81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E0CFD1-3583-4F3E-BFF4-5E9AA9E1972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6ABFFA-84C1-4F17-A4E0-78D7FF612E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55DFC9-A3BF-43A8-990A-720FC0AF2B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0B1B96-56B4-4FDA-8F0C-C8525F85E5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0E081-2E61-49EA-BDB3-BC5555B9C1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D1C973-2D92-4755-84A6-2D3CE35497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7A39B0-1F06-467F-BA5C-FA7D5AE2A2A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9D2D9B-D492-46E9-9999-9275A78E87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B72D27-426C-4F15-AFB0-4837915FB00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1CB080-D6DA-46D9-8855-8A9B5740713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5A2E4A-DDAB-4549-B185-1C6E72874FF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67C661-DF42-4F01-AB14-43EFCC77EF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00AF42-6817-4027-8C51-4B1FEDB7D23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CD1F3F-50BF-4532-B1FB-71CA0D91B5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1DB8AC-01CC-49E4-AF89-945284FF7A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C1FB13-4EB7-491B-AD9F-9242EFB8C3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E008FAB-4598-4ECB-A525-719FE4F3AB37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/mnt/data/a1_header_dark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14" name="Text 0"/>
          <p:cNvSpPr/>
          <p:nvPr/>
        </p:nvSpPr>
        <p:spPr>
          <a:xfrm>
            <a:off x="1225440" y="1947600"/>
            <a:ext cx="65833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Inter"/>
                <a:ea typeface="Inter"/>
              </a:rPr>
              <a:t>GIT &amp; GITHUB: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1225440" y="2514600"/>
            <a:ext cx="76806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Inter"/>
                <a:ea typeface="Inter"/>
              </a:rPr>
              <a:t>A JORNADA DO CÓDIGO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1243440" y="3264480"/>
            <a:ext cx="7223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1850" spc="-1" strike="noStrike">
                <a:solidFill>
                  <a:srgbClr val="0dbab5"/>
                </a:solidFill>
                <a:latin typeface="Inter"/>
                <a:ea typeface="+mn-ea"/>
              </a:rPr>
              <a:t>Aula 2 · Colaboração e fluxos avançados</a:t>
            </a:r>
            <a:endParaRPr b="0" lang="pt-BR" sz="1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Image 1" descr="/mnt/data/datalab_logo_crop.png"/>
          <p:cNvPicPr/>
          <p:nvPr/>
        </p:nvPicPr>
        <p:blipFill>
          <a:blip r:embed="rId2"/>
          <a:stretch/>
        </p:blipFill>
        <p:spPr>
          <a:xfrm>
            <a:off x="8823960" y="2011680"/>
            <a:ext cx="2157480" cy="1828440"/>
          </a:xfrm>
          <a:prstGeom prst="rect">
            <a:avLst/>
          </a:prstGeom>
          <a:ln w="0">
            <a:noFill/>
          </a:ln>
        </p:spPr>
      </p:pic>
      <p:sp>
        <p:nvSpPr>
          <p:cNvPr id="18" name="Text 3"/>
          <p:cNvSpPr/>
          <p:nvPr/>
        </p:nvSpPr>
        <p:spPr>
          <a:xfrm>
            <a:off x="1243440" y="624528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4bfcb"/>
                </a:solidFill>
                <a:latin typeface="Inter"/>
                <a:ea typeface="Inter"/>
              </a:rPr>
              <a:t>Data Lab · Treinamento Técnico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11356920" y="6510600"/>
            <a:ext cx="319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01</a:t>
            </a:r>
            <a:endParaRPr b="0" lang="pt-BR" sz="7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78;p17"/>
          <p:cNvSpPr/>
          <p:nvPr/>
        </p:nvSpPr>
        <p:spPr>
          <a:xfrm>
            <a:off x="0" y="-6120"/>
            <a:ext cx="12204360" cy="6870240"/>
          </a:xfrm>
          <a:custGeom>
            <a:avLst/>
            <a:gdLst>
              <a:gd name="textAreaLeft" fmla="*/ 0 w 12204360"/>
              <a:gd name="textAreaRight" fmla="*/ 12204720 w 12204360"/>
              <a:gd name="textAreaTop" fmla="*/ 0 h 6870240"/>
              <a:gd name="textAreaBottom" fmla="*/ 6870600 h 6870240"/>
            </a:gdLst>
            <a:ahLst/>
            <a:rect l="textAreaLeft" t="textAreaTop" r="textAreaRight" b="textAreaBottom"/>
            <a:pathLst>
              <a:path w="24408764" h="13741400">
                <a:moveTo>
                  <a:pt x="0" y="0"/>
                </a:moveTo>
                <a:lnTo>
                  <a:pt x="24408764" y="0"/>
                </a:lnTo>
                <a:lnTo>
                  <a:pt x="24408764" y="13741400"/>
                </a:lnTo>
                <a:lnTo>
                  <a:pt x="0" y="13741400"/>
                </a:lnTo>
                <a:close/>
              </a:path>
            </a:pathLst>
          </a:custGeom>
          <a:solidFill>
            <a:srgbClr val="f3f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" name="Google Shape;79;p 2"/>
          <p:cNvGrpSpPr/>
          <p:nvPr/>
        </p:nvGrpSpPr>
        <p:grpSpPr>
          <a:xfrm>
            <a:off x="566640" y="987120"/>
            <a:ext cx="7589520" cy="502560"/>
            <a:chOff x="566640" y="987120"/>
            <a:chExt cx="7589520" cy="502560"/>
          </a:xfrm>
        </p:grpSpPr>
        <p:sp>
          <p:nvSpPr>
            <p:cNvPr id="22" name="Google Shape;80;p 2"/>
            <p:cNvSpPr/>
            <p:nvPr/>
          </p:nvSpPr>
          <p:spPr>
            <a:xfrm>
              <a:off x="566640" y="987120"/>
              <a:ext cx="7589520" cy="502560"/>
            </a:xfrm>
            <a:custGeom>
              <a:avLst/>
              <a:gdLst>
                <a:gd name="textAreaLeft" fmla="*/ 0 w 7589520"/>
                <a:gd name="textAreaRight" fmla="*/ 7589880 w 7589520"/>
                <a:gd name="textAreaTop" fmla="*/ 0 h 502560"/>
                <a:gd name="textAreaBottom" fmla="*/ 502920 h 502560"/>
              </a:gdLst>
              <a:ahLst/>
              <a:rect l="textAreaLeft" t="textAreaTop" r="textAreaRight" b="textAreaBottom"/>
              <a:pathLst>
                <a:path w="15179039" h="1005840">
                  <a:moveTo>
                    <a:pt x="0" y="0"/>
                  </a:moveTo>
                  <a:lnTo>
                    <a:pt x="15179039" y="0"/>
                  </a:lnTo>
                  <a:lnTo>
                    <a:pt x="1517903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" name="Google Shape;81;p 2"/>
            <p:cNvSpPr/>
            <p:nvPr/>
          </p:nvSpPr>
          <p:spPr>
            <a:xfrm>
              <a:off x="566640" y="987120"/>
              <a:ext cx="7589520" cy="50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  <a:ea typeface="Arial"/>
                </a:rPr>
                <a:t>Su</a:t>
              </a:r>
              <a:r>
                <a:rPr b="1" lang="pt-BR" sz="1800" spc="-1" strike="noStrike">
                  <a:solidFill>
                    <a:srgbClr val="000000"/>
                  </a:solidFill>
                  <a:latin typeface="Arial"/>
                  <a:ea typeface="Arial"/>
                </a:rPr>
                <a:t>m</a:t>
              </a:r>
              <a:r>
                <a:rPr b="1" lang="pt-BR" sz="1800" spc="-1" strike="noStrike">
                  <a:solidFill>
                    <a:srgbClr val="000000"/>
                  </a:solidFill>
                  <a:latin typeface="Arial"/>
                  <a:ea typeface="Arial"/>
                </a:rPr>
                <a:t>ári</a:t>
              </a:r>
              <a:r>
                <a:rPr b="1" lang="pt-BR" sz="1800" spc="-1" strike="noStrike">
                  <a:solidFill>
                    <a:srgbClr val="000000"/>
                  </a:solidFill>
                  <a:latin typeface="Arial"/>
                  <a:ea typeface="Arial"/>
                </a:rPr>
                <a:t>o</a:t>
              </a: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4" name="Google Shape;82;p 2"/>
          <p:cNvSpPr/>
          <p:nvPr/>
        </p:nvSpPr>
        <p:spPr>
          <a:xfrm>
            <a:off x="487080" y="1035720"/>
            <a:ext cx="48960" cy="396360"/>
          </a:xfrm>
          <a:custGeom>
            <a:avLst/>
            <a:gdLst>
              <a:gd name="textAreaLeft" fmla="*/ 0 w 48960"/>
              <a:gd name="textAreaRight" fmla="*/ 49320 w 48960"/>
              <a:gd name="textAreaTop" fmla="*/ 0 h 396360"/>
              <a:gd name="textAreaBottom" fmla="*/ 396720 h 396360"/>
            </a:gdLst>
            <a:ahLst/>
            <a:rect l="textAreaLeft" t="textAreaTop" r="textAreaRight" b="textAreaBottom"/>
            <a:pathLst>
              <a:path w="98552" h="793496">
                <a:moveTo>
                  <a:pt x="0" y="0"/>
                </a:moveTo>
                <a:lnTo>
                  <a:pt x="98552" y="0"/>
                </a:lnTo>
                <a:lnTo>
                  <a:pt x="98552" y="793496"/>
                </a:lnTo>
                <a:lnTo>
                  <a:pt x="0" y="793496"/>
                </a:lnTo>
                <a:close/>
              </a:path>
            </a:pathLst>
          </a:custGeom>
          <a:solidFill>
            <a:srgbClr val="06b6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5" name="Google Shape;83;p 2"/>
          <p:cNvGrpSpPr/>
          <p:nvPr/>
        </p:nvGrpSpPr>
        <p:grpSpPr>
          <a:xfrm>
            <a:off x="502920" y="6350040"/>
            <a:ext cx="2559960" cy="168840"/>
            <a:chOff x="502920" y="6350040"/>
            <a:chExt cx="2559960" cy="168840"/>
          </a:xfrm>
        </p:grpSpPr>
        <p:sp>
          <p:nvSpPr>
            <p:cNvPr id="26" name="Google Shape;84;p 2"/>
            <p:cNvSpPr/>
            <p:nvPr/>
          </p:nvSpPr>
          <p:spPr>
            <a:xfrm>
              <a:off x="502920" y="6354720"/>
              <a:ext cx="2559960" cy="164160"/>
            </a:xfrm>
            <a:custGeom>
              <a:avLst/>
              <a:gdLst>
                <a:gd name="textAreaLeft" fmla="*/ 0 w 2559960"/>
                <a:gd name="textAreaRight" fmla="*/ 2560320 w 2559960"/>
                <a:gd name="textAreaTop" fmla="*/ 0 h 164160"/>
                <a:gd name="textAreaBottom" fmla="*/ 164520 h 164160"/>
              </a:gdLst>
              <a:ahLst/>
              <a:rect l="textAreaLeft" t="textAreaTop" r="textAreaRight" b="textAreaBottom"/>
              <a:pathLst>
                <a:path w="5120640" h="329184">
                  <a:moveTo>
                    <a:pt x="0" y="0"/>
                  </a:moveTo>
                  <a:lnTo>
                    <a:pt x="5120640" y="0"/>
                  </a:lnTo>
                  <a:lnTo>
                    <a:pt x="512064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" name="Google Shape;85;p 2"/>
            <p:cNvSpPr/>
            <p:nvPr/>
          </p:nvSpPr>
          <p:spPr>
            <a:xfrm>
              <a:off x="502920" y="6350040"/>
              <a:ext cx="2559960" cy="16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0" lang="pt-BR" sz="600" spc="-1" strike="noStrike">
                  <a:solidFill>
                    <a:srgbClr val="ffffff"/>
                  </a:solidFill>
                  <a:latin typeface="Arial"/>
                  <a:ea typeface="Arial"/>
                </a:rPr>
                <a:t>Data Lab · Apresentação</a:t>
              </a:r>
              <a:endParaRPr b="0" lang="pt-BR" sz="6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8" name="Google Shape;86;p 2"/>
          <p:cNvGrpSpPr/>
          <p:nvPr/>
        </p:nvGrpSpPr>
        <p:grpSpPr>
          <a:xfrm>
            <a:off x="11201040" y="6253920"/>
            <a:ext cx="475200" cy="292320"/>
            <a:chOff x="11201040" y="6253920"/>
            <a:chExt cx="475200" cy="292320"/>
          </a:xfrm>
        </p:grpSpPr>
        <p:sp>
          <p:nvSpPr>
            <p:cNvPr id="29" name="Google Shape;87;p 2"/>
            <p:cNvSpPr/>
            <p:nvPr/>
          </p:nvSpPr>
          <p:spPr>
            <a:xfrm>
              <a:off x="11201040" y="6253920"/>
              <a:ext cx="475200" cy="292320"/>
            </a:xfrm>
            <a:custGeom>
              <a:avLst/>
              <a:gdLst>
                <a:gd name="textAreaLeft" fmla="*/ 0 w 475200"/>
                <a:gd name="textAreaRight" fmla="*/ 475560 w 475200"/>
                <a:gd name="textAreaTop" fmla="*/ 0 h 292320"/>
                <a:gd name="textAreaBottom" fmla="*/ 292680 h 292320"/>
              </a:gdLst>
              <a:ahLst/>
              <a:rect l="textAreaLeft" t="textAreaTop" r="textAreaRight" b="textAreaBottom"/>
              <a:pathLst>
                <a:path w="950976" h="585216">
                  <a:moveTo>
                    <a:pt x="0" y="0"/>
                  </a:moveTo>
                  <a:lnTo>
                    <a:pt x="950976" y="0"/>
                  </a:lnTo>
                  <a:lnTo>
                    <a:pt x="950976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" name="Google Shape;88;p 2"/>
            <p:cNvSpPr/>
            <p:nvPr/>
          </p:nvSpPr>
          <p:spPr>
            <a:xfrm>
              <a:off x="11201040" y="6253920"/>
              <a:ext cx="475200" cy="29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ct val="120000"/>
                </a:lnSpc>
                <a:tabLst>
                  <a:tab algn="l" pos="0"/>
                </a:tabLst>
              </a:pPr>
              <a:r>
                <a:rPr b="0" lang="pt-BR" sz="800" spc="-1" strike="noStrike">
                  <a:solidFill>
                    <a:srgbClr val="ffffff"/>
                  </a:solidFill>
                  <a:latin typeface="Arial"/>
                  <a:ea typeface="Arial"/>
                </a:rPr>
                <a:t>11</a:t>
              </a:r>
              <a:endParaRPr b="0" lang="pt-BR" sz="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1" name="Google Shape;89;p 2"/>
          <p:cNvSpPr/>
          <p:nvPr/>
        </p:nvSpPr>
        <p:spPr>
          <a:xfrm>
            <a:off x="4627800" y="-91080"/>
            <a:ext cx="7836120" cy="885960"/>
          </a:xfrm>
          <a:custGeom>
            <a:avLst/>
            <a:gdLst>
              <a:gd name="textAreaLeft" fmla="*/ 0 w 7836120"/>
              <a:gd name="textAreaRight" fmla="*/ 7836480 w 7836120"/>
              <a:gd name="textAreaTop" fmla="*/ 0 h 885960"/>
              <a:gd name="textAreaBottom" fmla="*/ 886320 h 885960"/>
            </a:gdLst>
            <a:ahLst/>
            <a:rect l="textAreaLeft" t="textAreaTop" r="textAreaRight" b="textAreaBottom"/>
            <a:pathLst>
              <a:path w="15672713" h="1773428">
                <a:moveTo>
                  <a:pt x="0" y="0"/>
                </a:moveTo>
                <a:lnTo>
                  <a:pt x="15672713" y="0"/>
                </a:lnTo>
                <a:lnTo>
                  <a:pt x="15672713" y="1773428"/>
                </a:lnTo>
                <a:lnTo>
                  <a:pt x="0" y="17734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" name="Google Shape;90;p 2"/>
          <p:cNvGrpSpPr/>
          <p:nvPr/>
        </p:nvGrpSpPr>
        <p:grpSpPr>
          <a:xfrm>
            <a:off x="507600" y="1714320"/>
            <a:ext cx="6984720" cy="3650760"/>
            <a:chOff x="507600" y="1714320"/>
            <a:chExt cx="6984720" cy="3650760"/>
          </a:xfrm>
        </p:grpSpPr>
        <p:grpSp>
          <p:nvGrpSpPr>
            <p:cNvPr id="33" name="Google Shape;91;p 2"/>
            <p:cNvGrpSpPr/>
            <p:nvPr/>
          </p:nvGrpSpPr>
          <p:grpSpPr>
            <a:xfrm>
              <a:off x="507600" y="1714320"/>
              <a:ext cx="6984720" cy="793440"/>
              <a:chOff x="507600" y="1714320"/>
              <a:chExt cx="6984720" cy="793440"/>
            </a:xfrm>
          </p:grpSpPr>
          <p:sp>
            <p:nvSpPr>
              <p:cNvPr id="34" name="Google Shape;92;p 2"/>
              <p:cNvSpPr/>
              <p:nvPr/>
            </p:nvSpPr>
            <p:spPr>
              <a:xfrm>
                <a:off x="507600" y="1714320"/>
                <a:ext cx="6984720" cy="793440"/>
              </a:xfrm>
              <a:prstGeom prst="roundRect">
                <a:avLst>
                  <a:gd name="adj" fmla="val 12800"/>
                </a:avLst>
              </a:prstGeom>
              <a:solidFill>
                <a:srgbClr val="ffffff"/>
              </a:solidFill>
              <a:ln w="7150">
                <a:solidFill>
                  <a:srgbClr val="e2e8f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0" lang="pt-BR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" name="Google Shape;93;p 2"/>
              <p:cNvSpPr/>
              <p:nvPr/>
            </p:nvSpPr>
            <p:spPr>
              <a:xfrm>
                <a:off x="660240" y="1857240"/>
                <a:ext cx="507240" cy="507600"/>
              </a:xfrm>
              <a:prstGeom prst="roundRect">
                <a:avLst>
                  <a:gd name="adj" fmla="val 15000"/>
                </a:avLst>
              </a:prstGeom>
              <a:solidFill>
                <a:srgbClr val="4c1d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0" lang="pt-BR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6" name="Google Shape;94;p 2"/>
              <p:cNvSpPr/>
              <p:nvPr/>
            </p:nvSpPr>
            <p:spPr>
              <a:xfrm>
                <a:off x="660240" y="1857240"/>
                <a:ext cx="507240" cy="507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300" spc="-1" strike="noStrike">
                    <a:solidFill>
                      <a:srgbClr val="ffffff"/>
                    </a:solidFill>
                    <a:latin typeface="Arial"/>
                    <a:ea typeface="Arial"/>
                  </a:rPr>
                  <a:t>01</a:t>
                </a:r>
                <a:endParaRPr b="0" lang="pt-BR" sz="13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7" name="Google Shape;95;p 2"/>
              <p:cNvSpPr/>
              <p:nvPr/>
            </p:nvSpPr>
            <p:spPr>
              <a:xfrm>
                <a:off x="1333080" y="1841040"/>
                <a:ext cx="5968440" cy="539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100" spc="-1" strike="noStrike">
                    <a:solidFill>
                      <a:srgbClr val="4c1d95"/>
                    </a:solidFill>
                    <a:latin typeface="Arial"/>
                    <a:ea typeface="Arial"/>
                  </a:rPr>
                  <a:t>Branches e Merge</a:t>
                </a:r>
                <a:endParaRPr b="0" lang="pt-BR" sz="1100" spc="-1" strike="noStrike">
                  <a:solidFill>
                    <a:srgbClr val="ffffff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201"/>
                  </a:spcBef>
                  <a:tabLst>
                    <a:tab algn="l" pos="0"/>
                  </a:tabLst>
                </a:pPr>
                <a:r>
                  <a:rPr b="0" lang="pt-BR" sz="800" spc="-1" strike="noStrike">
                    <a:solidFill>
                      <a:srgbClr val="475569"/>
                    </a:solidFill>
                    <a:latin typeface="Arial"/>
                    <a:ea typeface="Arial"/>
                  </a:rPr>
                  <a:t>Criação de ramificações, integração de alterações e resolução de conflitos</a:t>
                </a:r>
                <a:endParaRPr b="0" lang="pt-BR" sz="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8" name="Google Shape;96;p 2"/>
            <p:cNvGrpSpPr/>
            <p:nvPr/>
          </p:nvGrpSpPr>
          <p:grpSpPr>
            <a:xfrm>
              <a:off x="507600" y="2666520"/>
              <a:ext cx="6984720" cy="793440"/>
              <a:chOff x="507600" y="2666520"/>
              <a:chExt cx="6984720" cy="793440"/>
            </a:xfrm>
          </p:grpSpPr>
          <p:sp>
            <p:nvSpPr>
              <p:cNvPr id="39" name="Google Shape;97;p 2"/>
              <p:cNvSpPr/>
              <p:nvPr/>
            </p:nvSpPr>
            <p:spPr>
              <a:xfrm>
                <a:off x="507600" y="2666520"/>
                <a:ext cx="6984720" cy="793440"/>
              </a:xfrm>
              <a:prstGeom prst="roundRect">
                <a:avLst>
                  <a:gd name="adj" fmla="val 12800"/>
                </a:avLst>
              </a:prstGeom>
              <a:solidFill>
                <a:srgbClr val="ffffff"/>
              </a:solidFill>
              <a:ln w="7150">
                <a:solidFill>
                  <a:srgbClr val="e2e8f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0" lang="pt-BR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" name="Google Shape;98;p 2"/>
              <p:cNvSpPr/>
              <p:nvPr/>
            </p:nvSpPr>
            <p:spPr>
              <a:xfrm>
                <a:off x="660240" y="2809800"/>
                <a:ext cx="507240" cy="507240"/>
              </a:xfrm>
              <a:prstGeom prst="roundRect">
                <a:avLst>
                  <a:gd name="adj" fmla="val 15000"/>
                </a:avLst>
              </a:prstGeom>
              <a:solidFill>
                <a:srgbClr val="06b6b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0" lang="pt-BR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1" name="Google Shape;99;p 2"/>
              <p:cNvSpPr/>
              <p:nvPr/>
            </p:nvSpPr>
            <p:spPr>
              <a:xfrm>
                <a:off x="660240" y="2809800"/>
                <a:ext cx="507240" cy="507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300" spc="-1" strike="noStrike">
                    <a:solidFill>
                      <a:srgbClr val="ffffff"/>
                    </a:solidFill>
                    <a:latin typeface="Arial"/>
                    <a:ea typeface="Arial"/>
                  </a:rPr>
                  <a:t>02</a:t>
                </a:r>
                <a:endParaRPr b="0" lang="pt-BR" sz="13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2" name="Google Shape;100;p 2"/>
              <p:cNvSpPr/>
              <p:nvPr/>
            </p:nvSpPr>
            <p:spPr>
              <a:xfrm>
                <a:off x="1333080" y="2793960"/>
                <a:ext cx="5968440" cy="539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100" spc="-1" strike="noStrike">
                    <a:solidFill>
                      <a:srgbClr val="4c1d95"/>
                    </a:solidFill>
                    <a:latin typeface="Arial"/>
                    <a:ea typeface="Arial"/>
                  </a:rPr>
                  <a:t>Colaboração no GitHub</a:t>
                </a:r>
                <a:endParaRPr b="0" lang="pt-BR" sz="1100" spc="-1" strike="noStrike">
                  <a:solidFill>
                    <a:srgbClr val="ffffff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201"/>
                  </a:spcBef>
                  <a:tabLst>
                    <a:tab algn="l" pos="0"/>
                  </a:tabLst>
                </a:pPr>
                <a:r>
                  <a:rPr b="0" lang="pt-BR" sz="800" spc="-1" strike="noStrike">
                    <a:solidFill>
                      <a:srgbClr val="475569"/>
                    </a:solidFill>
                    <a:latin typeface="Arial"/>
                    <a:ea typeface="Arial"/>
                  </a:rPr>
                  <a:t>Issues, Pull Requests e revisão de código em equipe</a:t>
                </a:r>
                <a:endParaRPr b="0" lang="pt-BR" sz="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3" name="Google Shape;101;p 2"/>
            <p:cNvGrpSpPr/>
            <p:nvPr/>
          </p:nvGrpSpPr>
          <p:grpSpPr>
            <a:xfrm>
              <a:off x="507600" y="3619440"/>
              <a:ext cx="6984720" cy="793440"/>
              <a:chOff x="507600" y="3619440"/>
              <a:chExt cx="6984720" cy="793440"/>
            </a:xfrm>
          </p:grpSpPr>
          <p:sp>
            <p:nvSpPr>
              <p:cNvPr id="44" name="Google Shape;102;p 2"/>
              <p:cNvSpPr/>
              <p:nvPr/>
            </p:nvSpPr>
            <p:spPr>
              <a:xfrm>
                <a:off x="507600" y="3619440"/>
                <a:ext cx="6984720" cy="793440"/>
              </a:xfrm>
              <a:prstGeom prst="roundRect">
                <a:avLst>
                  <a:gd name="adj" fmla="val 12800"/>
                </a:avLst>
              </a:prstGeom>
              <a:solidFill>
                <a:srgbClr val="ffffff"/>
              </a:solidFill>
              <a:ln w="7150">
                <a:solidFill>
                  <a:srgbClr val="e2e8f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0" lang="pt-BR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" name="Google Shape;103;p 2"/>
              <p:cNvSpPr/>
              <p:nvPr/>
            </p:nvSpPr>
            <p:spPr>
              <a:xfrm>
                <a:off x="660240" y="3762000"/>
                <a:ext cx="507240" cy="507240"/>
              </a:xfrm>
              <a:prstGeom prst="roundRect">
                <a:avLst>
                  <a:gd name="adj" fmla="val 15000"/>
                </a:avLst>
              </a:prstGeom>
              <a:solidFill>
                <a:srgbClr val="4c1d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0" lang="pt-BR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6" name="Google Shape;104;p 2"/>
              <p:cNvSpPr/>
              <p:nvPr/>
            </p:nvSpPr>
            <p:spPr>
              <a:xfrm>
                <a:off x="660240" y="3762000"/>
                <a:ext cx="507240" cy="507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300" spc="-1" strike="noStrike">
                    <a:solidFill>
                      <a:srgbClr val="ffffff"/>
                    </a:solidFill>
                    <a:latin typeface="Arial"/>
                    <a:ea typeface="Arial"/>
                  </a:rPr>
                  <a:t>03</a:t>
                </a:r>
                <a:endParaRPr b="0" lang="pt-BR" sz="13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7" name="Google Shape;105;p 2"/>
              <p:cNvSpPr/>
              <p:nvPr/>
            </p:nvSpPr>
            <p:spPr>
              <a:xfrm>
                <a:off x="1333080" y="3746160"/>
                <a:ext cx="5968440" cy="539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100" spc="-1" strike="noStrike">
                    <a:solidFill>
                      <a:srgbClr val="4c1d95"/>
                    </a:solidFill>
                    <a:latin typeface="Arial"/>
                    <a:ea typeface="Arial"/>
                  </a:rPr>
                  <a:t>Gerenciamento de Alterações</a:t>
                </a:r>
                <a:endParaRPr b="0" lang="pt-BR" sz="1100" spc="-1" strike="noStrike">
                  <a:solidFill>
                    <a:srgbClr val="ffffff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201"/>
                  </a:spcBef>
                  <a:tabLst>
                    <a:tab algn="l" pos="0"/>
                  </a:tabLst>
                </a:pPr>
                <a:r>
                  <a:rPr b="0" lang="pt-BR" sz="800" spc="-1" strike="noStrike">
                    <a:solidFill>
                      <a:srgbClr val="475569"/>
                    </a:solidFill>
                    <a:latin typeface="Arial"/>
                    <a:ea typeface="Arial"/>
                  </a:rPr>
                  <a:t>.gitignore, Stash, Reset, Revert e recuperação de arquivos</a:t>
                </a:r>
                <a:endParaRPr b="0" lang="pt-BR" sz="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8" name="Google Shape;106;p 2"/>
            <p:cNvGrpSpPr/>
            <p:nvPr/>
          </p:nvGrpSpPr>
          <p:grpSpPr>
            <a:xfrm>
              <a:off x="507600" y="4571640"/>
              <a:ext cx="6984720" cy="793440"/>
              <a:chOff x="507600" y="4571640"/>
              <a:chExt cx="6984720" cy="793440"/>
            </a:xfrm>
          </p:grpSpPr>
          <p:sp>
            <p:nvSpPr>
              <p:cNvPr id="49" name="Google Shape;107;p 2"/>
              <p:cNvSpPr/>
              <p:nvPr/>
            </p:nvSpPr>
            <p:spPr>
              <a:xfrm>
                <a:off x="507600" y="4571640"/>
                <a:ext cx="6984720" cy="793440"/>
              </a:xfrm>
              <a:prstGeom prst="roundRect">
                <a:avLst>
                  <a:gd name="adj" fmla="val 12800"/>
                </a:avLst>
              </a:prstGeom>
              <a:solidFill>
                <a:srgbClr val="ffffff"/>
              </a:solidFill>
              <a:ln w="7150">
                <a:solidFill>
                  <a:srgbClr val="e2e8f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0" lang="pt-BR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" name="Google Shape;108;p 2"/>
              <p:cNvSpPr/>
              <p:nvPr/>
            </p:nvSpPr>
            <p:spPr>
              <a:xfrm>
                <a:off x="660240" y="4714560"/>
                <a:ext cx="507240" cy="507600"/>
              </a:xfrm>
              <a:prstGeom prst="roundRect">
                <a:avLst>
                  <a:gd name="adj" fmla="val 15000"/>
                </a:avLst>
              </a:prstGeom>
              <a:solidFill>
                <a:srgbClr val="06b6b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0" lang="pt-BR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1" name="Google Shape;109;p 2"/>
              <p:cNvSpPr/>
              <p:nvPr/>
            </p:nvSpPr>
            <p:spPr>
              <a:xfrm>
                <a:off x="660240" y="4714560"/>
                <a:ext cx="507240" cy="507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300" spc="-1" strike="noStrike">
                    <a:solidFill>
                      <a:srgbClr val="ffffff"/>
                    </a:solidFill>
                    <a:latin typeface="Arial"/>
                    <a:ea typeface="Arial"/>
                  </a:rPr>
                  <a:t>04</a:t>
                </a:r>
                <a:endParaRPr b="0" lang="pt-BR" sz="13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2" name="Google Shape;110;p 2"/>
              <p:cNvSpPr/>
              <p:nvPr/>
            </p:nvSpPr>
            <p:spPr>
              <a:xfrm>
                <a:off x="1333080" y="4698720"/>
                <a:ext cx="5968440" cy="539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100" spc="-1" strike="noStrike">
                    <a:solidFill>
                      <a:srgbClr val="4c1d95"/>
                    </a:solidFill>
                    <a:latin typeface="Arial"/>
                    <a:ea typeface="Arial"/>
                  </a:rPr>
                  <a:t>Git Flow</a:t>
                </a:r>
                <a:endParaRPr b="0" lang="pt-BR" sz="1100" spc="-1" strike="noStrike">
                  <a:solidFill>
                    <a:srgbClr val="ffffff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201"/>
                  </a:spcBef>
                  <a:tabLst>
                    <a:tab algn="l" pos="0"/>
                  </a:tabLst>
                </a:pPr>
                <a:r>
                  <a:rPr b="0" lang="pt-BR" sz="800" spc="-1" strike="noStrike">
                    <a:solidFill>
                      <a:srgbClr val="475569"/>
                    </a:solidFill>
                    <a:latin typeface="Arial"/>
                    <a:ea typeface="Arial"/>
                  </a:rPr>
                  <a:t>Organização do desenvolvimento com branches principais e de suporte</a:t>
                </a:r>
                <a:endParaRPr b="0" lang="pt-BR" sz="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53" name="Google Shape;111;p 2"/>
          <p:cNvSpPr/>
          <p:nvPr/>
        </p:nvSpPr>
        <p:spPr>
          <a:xfrm>
            <a:off x="5015880" y="6191640"/>
            <a:ext cx="639180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Google Shape;112;p 2"/>
          <p:cNvSpPr/>
          <p:nvPr/>
        </p:nvSpPr>
        <p:spPr>
          <a:xfrm>
            <a:off x="7622640" y="3985560"/>
            <a:ext cx="1846800" cy="1566360"/>
          </a:xfrm>
          <a:custGeom>
            <a:avLst/>
            <a:gdLst>
              <a:gd name="textAreaLeft" fmla="*/ 0 w 1846800"/>
              <a:gd name="textAreaRight" fmla="*/ 1847160 w 1846800"/>
              <a:gd name="textAreaTop" fmla="*/ 0 h 1566360"/>
              <a:gd name="textAreaBottom" fmla="*/ 1566720 h 1566360"/>
            </a:gdLst>
            <a:ahLst/>
            <a:rect l="textAreaLeft" t="textAreaTop" r="textAreaRight" b="textAreaBottom"/>
            <a:pathLst>
              <a:path w="2770636" h="2350267">
                <a:moveTo>
                  <a:pt x="0" y="0"/>
                </a:moveTo>
                <a:lnTo>
                  <a:pt x="2770636" y="0"/>
                </a:lnTo>
                <a:lnTo>
                  <a:pt x="2770636" y="2350267"/>
                </a:lnTo>
                <a:lnTo>
                  <a:pt x="0" y="23502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56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7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TRABALHANDO COM BRANCH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02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749880" y="1645920"/>
            <a:ext cx="10560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171b25"/>
                </a:solidFill>
                <a:latin typeface="Inter"/>
                <a:ea typeface="Inter"/>
              </a:rPr>
              <a:t>No Git, uma branch é uma linha de desenvolvimento do projeto na qual podemos trabalhar de maneira independente.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768240" y="2679120"/>
            <a:ext cx="6903360" cy="253260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768240" y="2679120"/>
            <a:ext cx="60120" cy="253260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3" name="Text 7"/>
          <p:cNvSpPr/>
          <p:nvPr/>
        </p:nvSpPr>
        <p:spPr>
          <a:xfrm>
            <a:off x="996840" y="2843640"/>
            <a:ext cx="646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dbab5"/>
                </a:solidFill>
                <a:latin typeface="Inter"/>
                <a:ea typeface="Inter"/>
              </a:rPr>
              <a:t>As ramificações ajudam a: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996840" y="3355920"/>
            <a:ext cx="6446160" cy="17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71b25"/>
                </a:solidFill>
                <a:latin typeface="Inter"/>
                <a:ea typeface="Inter"/>
              </a:rPr>
              <a:t>• </a:t>
            </a:r>
            <a:r>
              <a:rPr b="0" lang="en-US" sz="1700" spc="-1" strike="noStrike">
                <a:solidFill>
                  <a:srgbClr val="171b25"/>
                </a:solidFill>
                <a:latin typeface="Inter"/>
                <a:ea typeface="Inter"/>
              </a:rPr>
              <a:t>Manter a organização do controle de versão.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71b25"/>
                </a:solidFill>
                <a:latin typeface="Inter"/>
                <a:ea typeface="Inter"/>
              </a:rPr>
              <a:t>• </a:t>
            </a:r>
            <a:r>
              <a:rPr b="0" lang="en-US" sz="1700" spc="-1" strike="noStrike">
                <a:solidFill>
                  <a:srgbClr val="171b25"/>
                </a:solidFill>
                <a:latin typeface="Inter"/>
                <a:ea typeface="Inter"/>
              </a:rPr>
              <a:t>Manipular o código com mais segurança.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71b25"/>
                </a:solidFill>
                <a:latin typeface="Inter"/>
                <a:ea typeface="Inter"/>
              </a:rPr>
              <a:t>• </a:t>
            </a:r>
            <a:r>
              <a:rPr b="0" lang="en-US" sz="1700" spc="-1" strike="noStrike">
                <a:solidFill>
                  <a:srgbClr val="171b25"/>
                </a:solidFill>
                <a:latin typeface="Inter"/>
                <a:ea typeface="Inter"/>
              </a:rPr>
              <a:t>Desenvolver funcionalidades sem afetar diretamente a versão principal.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9"/>
          <p:cNvSpPr/>
          <p:nvPr/>
        </p:nvSpPr>
        <p:spPr>
          <a:xfrm>
            <a:off x="7909560" y="2679120"/>
            <a:ext cx="3492720" cy="2532600"/>
          </a:xfrm>
          <a:prstGeom prst="roundRect">
            <a:avLst>
              <a:gd name="adj" fmla="val 5415"/>
            </a:avLst>
          </a:prstGeom>
          <a:solidFill>
            <a:srgbClr val="ecf9fc"/>
          </a:solidFill>
          <a:ln w="12700">
            <a:solidFill>
              <a:srgbClr val="ecf9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6" name="Shape 10"/>
          <p:cNvSpPr/>
          <p:nvPr/>
        </p:nvSpPr>
        <p:spPr>
          <a:xfrm>
            <a:off x="9253440" y="3236760"/>
            <a:ext cx="360" cy="484560"/>
          </a:xfrm>
          <a:prstGeom prst="line">
            <a:avLst/>
          </a:prstGeom>
          <a:ln w="63500">
            <a:solidFill>
              <a:srgbClr val="12af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9253440" y="3721320"/>
            <a:ext cx="759240" cy="360"/>
          </a:xfrm>
          <a:prstGeom prst="line">
            <a:avLst/>
          </a:prstGeom>
          <a:ln w="63500">
            <a:solidFill>
              <a:srgbClr val="12af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8" name="Shape 12"/>
          <p:cNvSpPr/>
          <p:nvPr/>
        </p:nvSpPr>
        <p:spPr>
          <a:xfrm flipV="1">
            <a:off x="10012680" y="3227760"/>
            <a:ext cx="360" cy="493560"/>
          </a:xfrm>
          <a:prstGeom prst="line">
            <a:avLst/>
          </a:prstGeom>
          <a:ln w="63500">
            <a:solidFill>
              <a:srgbClr val="12af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9" name="Shape 13"/>
          <p:cNvSpPr/>
          <p:nvPr/>
        </p:nvSpPr>
        <p:spPr>
          <a:xfrm>
            <a:off x="9144000" y="3127320"/>
            <a:ext cx="219240" cy="219240"/>
          </a:xfrm>
          <a:prstGeom prst="ellipse">
            <a:avLst/>
          </a:prstGeom>
          <a:solidFill>
            <a:srgbClr val="12aff0"/>
          </a:solidFill>
          <a:ln w="12700">
            <a:solidFill>
              <a:srgbClr val="12af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9902880" y="3117960"/>
            <a:ext cx="219240" cy="219240"/>
          </a:xfrm>
          <a:prstGeom prst="ellipse">
            <a:avLst/>
          </a:prstGeom>
          <a:solidFill>
            <a:srgbClr val="12aff0"/>
          </a:solidFill>
          <a:ln w="12700">
            <a:solidFill>
              <a:srgbClr val="12af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1" name="Shape 15"/>
          <p:cNvSpPr/>
          <p:nvPr/>
        </p:nvSpPr>
        <p:spPr>
          <a:xfrm>
            <a:off x="9144000" y="3611880"/>
            <a:ext cx="219240" cy="219240"/>
          </a:xfrm>
          <a:prstGeom prst="ellipse">
            <a:avLst/>
          </a:prstGeom>
          <a:solidFill>
            <a:srgbClr val="12aff0"/>
          </a:solidFill>
          <a:ln w="12700">
            <a:solidFill>
              <a:srgbClr val="12af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8229600" y="4187880"/>
            <a:ext cx="2852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55179d"/>
                </a:solidFill>
                <a:latin typeface="Inter"/>
                <a:ea typeface="Inter"/>
              </a:rPr>
              <a:t>Ramificação de código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7"/>
          <p:cNvSpPr/>
          <p:nvPr/>
        </p:nvSpPr>
        <p:spPr>
          <a:xfrm>
            <a:off x="8119800" y="457200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pc="-1" strike="noStrike">
                <a:solidFill>
                  <a:srgbClr val="5c6576"/>
                </a:solidFill>
                <a:latin typeface="Inter"/>
                <a:ea typeface="Inter"/>
              </a:rPr>
              <a:t>Independência e organização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8"/>
          <p:cNvSpPr/>
          <p:nvPr/>
        </p:nvSpPr>
        <p:spPr>
          <a:xfrm>
            <a:off x="1280160" y="5513760"/>
            <a:ext cx="9372240" cy="475200"/>
          </a:xfrm>
          <a:prstGeom prst="roundRect">
            <a:avLst>
              <a:gd name="adj" fmla="val 17308"/>
            </a:avLst>
          </a:prstGeom>
          <a:solidFill>
            <a:srgbClr val="f1e7fd"/>
          </a:solidFill>
          <a:ln w="12700">
            <a:solidFill>
              <a:srgbClr val="f1e7f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5" name="Text 19"/>
          <p:cNvSpPr/>
          <p:nvPr/>
        </p:nvSpPr>
        <p:spPr>
          <a:xfrm>
            <a:off x="1362600" y="5550480"/>
            <a:ext cx="9207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55179d"/>
                </a:solidFill>
                <a:latin typeface="Inter"/>
                <a:ea typeface="Inter"/>
              </a:rPr>
              <a:t>“</a:t>
            </a:r>
            <a:r>
              <a:rPr b="1" lang="en-US" sz="1600" spc="-1" strike="noStrike">
                <a:solidFill>
                  <a:srgbClr val="55179d"/>
                </a:solidFill>
                <a:latin typeface="Inter"/>
                <a:ea typeface="Inter"/>
              </a:rPr>
              <a:t>Linhas do tempo paralelas para testar ideias.”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77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8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TIPOS DE BRANCH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713160" y="144468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pc="-1" strike="noStrike">
                <a:solidFill>
                  <a:srgbClr val="5c6576"/>
                </a:solidFill>
                <a:latin typeface="Inter"/>
                <a:ea typeface="Inter"/>
              </a:rPr>
              <a:t>Uma distinção útil para entender a organização do desenvolvimento.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03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822960" y="1993320"/>
            <a:ext cx="5092920" cy="3346200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822960" y="1993320"/>
            <a:ext cx="60120" cy="3346200"/>
          </a:xfrm>
          <a:prstGeom prst="rect">
            <a:avLst/>
          </a:prstGeom>
          <a:solidFill>
            <a:srgbClr val="55179d"/>
          </a:solidFill>
          <a:ln w="12700">
            <a:solidFill>
              <a:srgbClr val="55179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84" name="Text 7"/>
          <p:cNvSpPr/>
          <p:nvPr/>
        </p:nvSpPr>
        <p:spPr>
          <a:xfrm>
            <a:off x="1051560" y="2157840"/>
            <a:ext cx="465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55179d"/>
                </a:solidFill>
                <a:latin typeface="Inter"/>
                <a:ea typeface="Inter"/>
              </a:rPr>
              <a:t>TIPO FIXO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1051560" y="2670120"/>
            <a:ext cx="4635720" cy="25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71b25"/>
                </a:solidFill>
                <a:latin typeface="Inter"/>
                <a:ea typeface="Inter"/>
              </a:rPr>
              <a:t>Responsável por manter uma linha duradoura do histórico oficial do projeto.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71b25"/>
                </a:solidFill>
                <a:latin typeface="Inter"/>
                <a:ea typeface="Inter"/>
              </a:rPr>
              <a:t>Geralmente possui vida indefinida.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71b25"/>
                </a:solidFill>
                <a:latin typeface="Inter"/>
                <a:ea typeface="Inter"/>
              </a:rPr>
              <a:t>Exemplos: main ou master.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9"/>
          <p:cNvSpPr/>
          <p:nvPr/>
        </p:nvSpPr>
        <p:spPr>
          <a:xfrm>
            <a:off x="6226920" y="1993320"/>
            <a:ext cx="5092920" cy="3346200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6226920" y="1993320"/>
            <a:ext cx="60120" cy="334620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6455520" y="2157840"/>
            <a:ext cx="465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dbab5"/>
                </a:solidFill>
                <a:latin typeface="Inter"/>
                <a:ea typeface="Inter"/>
              </a:rPr>
              <a:t>TIPO AUXILIAR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6455520" y="2670120"/>
            <a:ext cx="4635720" cy="25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71b25"/>
                </a:solidFill>
                <a:latin typeface="Inter"/>
                <a:ea typeface="Inter"/>
              </a:rPr>
              <a:t>Criada conforme a necessidade para desenvolver novas funcionalidades ou correções.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71b25"/>
                </a:solidFill>
                <a:latin typeface="Inter"/>
                <a:ea typeface="Inter"/>
              </a:rPr>
              <a:t>Normalmente é temporária e pode ser descartada após a integração.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>
            <a:off x="932760" y="5632560"/>
            <a:ext cx="10305000" cy="447840"/>
          </a:xfrm>
          <a:prstGeom prst="roundRect">
            <a:avLst>
              <a:gd name="adj" fmla="val 18367"/>
            </a:avLst>
          </a:prstGeom>
          <a:solidFill>
            <a:srgbClr val="eaf0f9"/>
          </a:solidFill>
          <a:ln w="12700">
            <a:solidFill>
              <a:srgbClr val="eaf0f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1014840" y="5669280"/>
            <a:ext cx="101404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55179d"/>
                </a:solidFill>
                <a:latin typeface="Inter"/>
                <a:ea typeface="Inter"/>
              </a:rPr>
              <a:t>Branches fixas permanecem · Branches auxiliares atendem a demandas específicas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93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94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COMANDOS ESSENCIAIS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04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713160" y="1710000"/>
            <a:ext cx="5092920" cy="102384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98" name="Shape 5"/>
          <p:cNvSpPr/>
          <p:nvPr/>
        </p:nvSpPr>
        <p:spPr>
          <a:xfrm>
            <a:off x="713160" y="1710000"/>
            <a:ext cx="60120" cy="10238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99" name="Text 6"/>
          <p:cNvSpPr/>
          <p:nvPr/>
        </p:nvSpPr>
        <p:spPr>
          <a:xfrm>
            <a:off x="941760" y="1874520"/>
            <a:ext cx="465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dbab5"/>
                </a:solidFill>
                <a:latin typeface="Inter"/>
                <a:ea typeface="Inter"/>
              </a:rPr>
              <a:t>CRIAR BRANCH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941760" y="2386440"/>
            <a:ext cx="463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80" spc="-1" strike="noStrike">
                <a:solidFill>
                  <a:srgbClr val="171b25"/>
                </a:solidFill>
                <a:latin typeface="Inter"/>
                <a:ea typeface="Inter"/>
              </a:rPr>
              <a:t>Cria uma nova ramificação a partir do commit atual.</a:t>
            </a:r>
            <a:endParaRPr b="0" lang="pt-BR" sz="13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713160" y="2898720"/>
            <a:ext cx="5092920" cy="102384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02" name="Shape 9"/>
          <p:cNvSpPr/>
          <p:nvPr/>
        </p:nvSpPr>
        <p:spPr>
          <a:xfrm>
            <a:off x="713160" y="2898720"/>
            <a:ext cx="60120" cy="1023840"/>
          </a:xfrm>
          <a:prstGeom prst="rect">
            <a:avLst/>
          </a:prstGeom>
          <a:solidFill>
            <a:srgbClr val="55179d"/>
          </a:solidFill>
          <a:ln w="12700">
            <a:solidFill>
              <a:srgbClr val="55179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941760" y="3063240"/>
            <a:ext cx="465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55179d"/>
                </a:solidFill>
                <a:latin typeface="Inter"/>
                <a:ea typeface="Inter"/>
              </a:rPr>
              <a:t>MUDAR DE BRANCH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941760" y="3575160"/>
            <a:ext cx="463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80" spc="-1" strike="noStrike">
                <a:solidFill>
                  <a:srgbClr val="171b25"/>
                </a:solidFill>
                <a:latin typeface="Inter"/>
                <a:ea typeface="Inter"/>
              </a:rPr>
              <a:t>Alterna o ambiente de trabalho para outra branch.</a:t>
            </a:r>
            <a:endParaRPr b="0" lang="pt-BR" sz="13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713160" y="4087440"/>
            <a:ext cx="5092920" cy="102384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06" name="Shape 13"/>
          <p:cNvSpPr/>
          <p:nvPr/>
        </p:nvSpPr>
        <p:spPr>
          <a:xfrm>
            <a:off x="713160" y="4087440"/>
            <a:ext cx="60120" cy="10238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941760" y="4251960"/>
            <a:ext cx="465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dbab5"/>
                </a:solidFill>
                <a:latin typeface="Inter"/>
                <a:ea typeface="Inter"/>
              </a:rPr>
              <a:t>LISTAR BRANCHES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941760" y="4763880"/>
            <a:ext cx="463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80" spc="-1" strike="noStrike">
                <a:solidFill>
                  <a:srgbClr val="171b25"/>
                </a:solidFill>
                <a:latin typeface="Inter"/>
                <a:ea typeface="Inter"/>
              </a:rPr>
              <a:t>Mostra as branches locais existentes.</a:t>
            </a:r>
            <a:endParaRPr b="0" lang="pt-BR" sz="13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6"/>
          <p:cNvSpPr/>
          <p:nvPr/>
        </p:nvSpPr>
        <p:spPr>
          <a:xfrm>
            <a:off x="6071760" y="1710000"/>
            <a:ext cx="5348880" cy="3958920"/>
          </a:xfrm>
          <a:prstGeom prst="roundRect">
            <a:avLst>
              <a:gd name="adj" fmla="val 2540"/>
            </a:avLst>
          </a:prstGeom>
          <a:solidFill>
            <a:srgbClr val="0e192a"/>
          </a:solidFill>
          <a:ln w="12700">
            <a:solidFill>
              <a:srgbClr val="0e192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6327720" y="1892880"/>
            <a:ext cx="4873320" cy="362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10" spc="-1" strike="noStrike">
                <a:solidFill>
                  <a:srgbClr val="e4f1ff"/>
                </a:solidFill>
                <a:latin typeface="Courier New"/>
                <a:ea typeface="Courier New"/>
              </a:rPr>
              <a:t># Criar uma branch</a:t>
            </a:r>
            <a:endParaRPr b="0" lang="pt-BR" sz="15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10" spc="-1" strike="noStrike">
                <a:solidFill>
                  <a:srgbClr val="e4f1ff"/>
                </a:solidFill>
                <a:latin typeface="Courier New"/>
                <a:ea typeface="Courier New"/>
              </a:rPr>
              <a:t>git branch nova-feature</a:t>
            </a:r>
            <a:endParaRPr b="0" lang="pt-BR" sz="15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5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10" spc="-1" strike="noStrike">
                <a:solidFill>
                  <a:srgbClr val="e4f1ff"/>
                </a:solidFill>
                <a:latin typeface="Courier New"/>
                <a:ea typeface="Courier New"/>
              </a:rPr>
              <a:t># Mudar para a branch</a:t>
            </a:r>
            <a:endParaRPr b="0" lang="pt-BR" sz="15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10" spc="-1" strike="noStrike">
                <a:solidFill>
                  <a:srgbClr val="e4f1ff"/>
                </a:solidFill>
                <a:latin typeface="Courier New"/>
                <a:ea typeface="Courier New"/>
              </a:rPr>
              <a:t>git checkout nova-feature</a:t>
            </a:r>
            <a:endParaRPr b="0" lang="pt-BR" sz="15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5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10" spc="-1" strike="noStrike">
                <a:solidFill>
                  <a:srgbClr val="e4f1ff"/>
                </a:solidFill>
                <a:latin typeface="Courier New"/>
                <a:ea typeface="Courier New"/>
              </a:rPr>
              <a:t># Listar branches</a:t>
            </a:r>
            <a:endParaRPr b="0" lang="pt-BR" sz="15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10" spc="-1" strike="noStrike">
                <a:solidFill>
                  <a:srgbClr val="e4f1ff"/>
                </a:solidFill>
                <a:latin typeface="Courier New"/>
                <a:ea typeface="Courier New"/>
              </a:rPr>
              <a:t>git branch</a:t>
            </a:r>
            <a:endParaRPr b="0" lang="pt-BR" sz="15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8"/>
          <p:cNvSpPr/>
          <p:nvPr/>
        </p:nvSpPr>
        <p:spPr>
          <a:xfrm>
            <a:off x="1024200" y="5870520"/>
            <a:ext cx="10122120" cy="402120"/>
          </a:xfrm>
          <a:prstGeom prst="roundRect">
            <a:avLst>
              <a:gd name="adj" fmla="val 20455"/>
            </a:avLst>
          </a:prstGeom>
          <a:solidFill>
            <a:srgbClr val="f1e7fd"/>
          </a:solidFill>
          <a:ln w="12700">
            <a:solidFill>
              <a:srgbClr val="f1e7f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1106280" y="5906880"/>
            <a:ext cx="9957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55179d"/>
                </a:solidFill>
                <a:latin typeface="Inter"/>
                <a:ea typeface="Inter"/>
              </a:rPr>
              <a:t>A nova branch começa a partir do commit atual (HEAD).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114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UNINDO MUNDOS: GIT MERGE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05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795600" y="1710000"/>
            <a:ext cx="1056996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71b25"/>
                </a:solidFill>
                <a:latin typeface="Inter"/>
                <a:ea typeface="Inter"/>
              </a:rPr>
              <a:t>Depois de finalizar o trabalho em uma branch auxiliar, é possível integrar suas alterações à linha principal do projeto. Esse processo se chama merge (mesclagem).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5"/>
          <p:cNvSpPr/>
          <p:nvPr/>
        </p:nvSpPr>
        <p:spPr>
          <a:xfrm>
            <a:off x="1069920" y="2752200"/>
            <a:ext cx="10030680" cy="2404440"/>
          </a:xfrm>
          <a:prstGeom prst="roundRect">
            <a:avLst>
              <a:gd name="adj" fmla="val 4183"/>
            </a:avLst>
          </a:prstGeom>
          <a:solidFill>
            <a:srgbClr val="0e192a"/>
          </a:solidFill>
          <a:ln w="12700">
            <a:solidFill>
              <a:srgbClr val="0e192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1325880" y="2935080"/>
            <a:ext cx="9555120" cy="20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4f1ff"/>
                </a:solidFill>
                <a:latin typeface="Courier New"/>
                <a:ea typeface="Courier New"/>
              </a:rPr>
              <a:t># 1. Mudar para a branch que receberá alterações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4f1ff"/>
                </a:solidFill>
                <a:latin typeface="Courier New"/>
                <a:ea typeface="Courier New"/>
              </a:rPr>
              <a:t>git checkout main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4f1ff"/>
                </a:solidFill>
                <a:latin typeface="Courier New"/>
                <a:ea typeface="Courier New"/>
              </a:rPr>
              <a:t># 2. Mesclar a branch auxiliar na main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4f1ff"/>
                </a:solidFill>
                <a:latin typeface="Courier New"/>
                <a:ea typeface="Courier New"/>
              </a:rPr>
              <a:t>git merge nome-da-sua-branch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>
            <a:off x="1463040" y="5559480"/>
            <a:ext cx="2861640" cy="411120"/>
          </a:xfrm>
          <a:prstGeom prst="roundRect">
            <a:avLst>
              <a:gd name="adj" fmla="val 20000"/>
            </a:avLst>
          </a:prstGeom>
          <a:solidFill>
            <a:srgbClr val="e3f9f7"/>
          </a:solidFill>
          <a:ln w="12700">
            <a:solidFill>
              <a:srgbClr val="e3f9f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1545480" y="559620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bab5"/>
                </a:solidFill>
                <a:latin typeface="Inter"/>
                <a:ea typeface="Inter"/>
              </a:rPr>
              <a:t>BRANCH AUXILIAR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9"/>
          <p:cNvSpPr/>
          <p:nvPr/>
        </p:nvSpPr>
        <p:spPr>
          <a:xfrm>
            <a:off x="4498560" y="5760720"/>
            <a:ext cx="2395800" cy="360"/>
          </a:xfrm>
          <a:prstGeom prst="line">
            <a:avLst/>
          </a:prstGeom>
          <a:ln w="33020">
            <a:solidFill>
              <a:srgbClr val="55179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4" name="Shape 10"/>
          <p:cNvSpPr/>
          <p:nvPr/>
        </p:nvSpPr>
        <p:spPr>
          <a:xfrm>
            <a:off x="7086600" y="5559480"/>
            <a:ext cx="3053880" cy="411120"/>
          </a:xfrm>
          <a:prstGeom prst="roundRect">
            <a:avLst>
              <a:gd name="adj" fmla="val 20000"/>
            </a:avLst>
          </a:prstGeom>
          <a:solidFill>
            <a:srgbClr val="f1e7fd"/>
          </a:solidFill>
          <a:ln w="12700">
            <a:solidFill>
              <a:srgbClr val="f1e7f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5" name="Text 11"/>
          <p:cNvSpPr/>
          <p:nvPr/>
        </p:nvSpPr>
        <p:spPr>
          <a:xfrm>
            <a:off x="7169040" y="5596200"/>
            <a:ext cx="28890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55179d"/>
                </a:solidFill>
                <a:latin typeface="Inter"/>
                <a:ea typeface="Inter"/>
              </a:rPr>
              <a:t>MAIN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740160"/>
          </a:xfrm>
          <a:prstGeom prst="rect">
            <a:avLst/>
          </a:prstGeom>
          <a:ln w="0">
            <a:noFill/>
          </a:ln>
        </p:spPr>
      </p:pic>
      <p:sp>
        <p:nvSpPr>
          <p:cNvPr id="127" name="Rectangle 2"/>
          <p:cNvSpPr/>
          <p:nvPr/>
        </p:nvSpPr>
        <p:spPr>
          <a:xfrm>
            <a:off x="676800" y="932760"/>
            <a:ext cx="45360" cy="34704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822960" y="941040"/>
            <a:ext cx="1069812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230" spc="-1" strike="noStrike">
                <a:solidFill>
                  <a:srgbClr val="55179d"/>
                </a:solidFill>
                <a:latin typeface="Inter"/>
                <a:ea typeface="+mn-ea"/>
              </a:rPr>
              <a:t>ISSUES: ORGANIZANDO O TRABALHO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713160" y="1499760"/>
            <a:ext cx="10881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320" spc="-1" strike="noStrike">
                <a:solidFill>
                  <a:srgbClr val="5c6576"/>
                </a:solidFill>
                <a:latin typeface="Inter"/>
                <a:ea typeface="+mn-ea"/>
              </a:rPr>
              <a:t>Antes de alterar o código, a equipe precisa definir o que será feito.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484560" y="6553440"/>
            <a:ext cx="457164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60" spc="-1" strike="noStrike">
                <a:solidFill>
                  <a:srgbClr val="99a2ae"/>
                </a:solidFill>
                <a:latin typeface="Inter"/>
                <a:ea typeface="+mn-ea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6"/>
          <p:cNvSpPr/>
          <p:nvPr/>
        </p:nvSpPr>
        <p:spPr>
          <a:xfrm>
            <a:off x="11466720" y="6552000"/>
            <a:ext cx="32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06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ounded Rectangle 7"/>
          <p:cNvSpPr/>
          <p:nvPr/>
        </p:nvSpPr>
        <p:spPr>
          <a:xfrm>
            <a:off x="758880" y="1974960"/>
            <a:ext cx="6446160" cy="3401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3" name="Rectangle 8"/>
          <p:cNvSpPr/>
          <p:nvPr/>
        </p:nvSpPr>
        <p:spPr>
          <a:xfrm>
            <a:off x="758880" y="1974960"/>
            <a:ext cx="61920" cy="340128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4" name="Rounded Rectangle 9"/>
          <p:cNvSpPr/>
          <p:nvPr/>
        </p:nvSpPr>
        <p:spPr>
          <a:xfrm>
            <a:off x="1024200" y="2212920"/>
            <a:ext cx="1142640" cy="338040"/>
          </a:xfrm>
          <a:prstGeom prst="roundRect">
            <a:avLst>
              <a:gd name="adj" fmla="val 7500"/>
            </a:avLst>
          </a:prstGeom>
          <a:solidFill>
            <a:srgbClr val="edf9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1051560" y="2266920"/>
            <a:ext cx="108792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150" spc="-1" strike="noStrike">
                <a:solidFill>
                  <a:srgbClr val="21a565"/>
                </a:solidFill>
                <a:latin typeface="Inter"/>
                <a:ea typeface="+mn-ea"/>
              </a:rPr>
              <a:t>OPEN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2377440" y="2223360"/>
            <a:ext cx="4498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720" spc="-1" strike="noStrike">
                <a:solidFill>
                  <a:srgbClr val="171b25"/>
                </a:solidFill>
                <a:latin typeface="Inter"/>
                <a:ea typeface="+mn-ea"/>
              </a:rPr>
              <a:t>Issue #12 · Adicionar filtros na busca</a:t>
            </a:r>
            <a:endParaRPr b="0" lang="pt-BR" sz="17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7" name="Connector 12"/>
          <p:cNvCxnSpPr/>
          <p:nvPr/>
        </p:nvCxnSpPr>
        <p:spPr>
          <a:xfrm>
            <a:off x="1051560" y="2733840"/>
            <a:ext cx="5879880" cy="360"/>
          </a:xfrm>
          <a:prstGeom prst="straightConnector1">
            <a:avLst/>
          </a:prstGeom>
          <a:ln w="12700">
            <a:solidFill>
              <a:srgbClr val="d9e4f0"/>
            </a:solidFill>
            <a:round/>
          </a:ln>
        </p:spPr>
      </p:cxnSp>
      <p:sp>
        <p:nvSpPr>
          <p:cNvPr id="138" name="TextBox 13"/>
          <p:cNvSpPr/>
          <p:nvPr/>
        </p:nvSpPr>
        <p:spPr>
          <a:xfrm>
            <a:off x="1078920" y="3018960"/>
            <a:ext cx="54313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480" spc="-1" strike="noStrike">
                <a:solidFill>
                  <a:srgbClr val="55179d"/>
                </a:solidFill>
                <a:latin typeface="Inter"/>
                <a:ea typeface="+mn-ea"/>
              </a:rPr>
              <a:t>Objetivo</a:t>
            </a:r>
            <a:endParaRPr b="0" lang="pt-BR" sz="1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14"/>
          <p:cNvSpPr/>
          <p:nvPr/>
        </p:nvSpPr>
        <p:spPr>
          <a:xfrm>
            <a:off x="1078920" y="3533760"/>
            <a:ext cx="57056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620" spc="-1" strike="noStrike">
                <a:solidFill>
                  <a:srgbClr val="171b25"/>
                </a:solidFill>
                <a:latin typeface="Inter"/>
                <a:ea typeface="+mn-ea"/>
              </a:rPr>
              <a:t>Permitir que o usuário filtre resultados por categoria e visualize apenas os itens de interesse.</a:t>
            </a:r>
            <a:endParaRPr b="0" lang="pt-BR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ounded Rectangle 15"/>
          <p:cNvSpPr/>
          <p:nvPr/>
        </p:nvSpPr>
        <p:spPr>
          <a:xfrm>
            <a:off x="1078920" y="4617720"/>
            <a:ext cx="1225080" cy="338040"/>
          </a:xfrm>
          <a:prstGeom prst="roundRect">
            <a:avLst>
              <a:gd name="adj" fmla="val 7500"/>
            </a:avLst>
          </a:prstGeom>
          <a:solidFill>
            <a:srgbClr val="e7f9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41" name="TextBox 16"/>
          <p:cNvSpPr/>
          <p:nvPr/>
        </p:nvSpPr>
        <p:spPr>
          <a:xfrm>
            <a:off x="1106280" y="4677840"/>
            <a:ext cx="11700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070" spc="-1" strike="noStrike">
                <a:solidFill>
                  <a:srgbClr val="078f91"/>
                </a:solidFill>
                <a:latin typeface="Inter"/>
                <a:ea typeface="+mn-ea"/>
              </a:rPr>
              <a:t>enhancement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ounded Rectangle 17"/>
          <p:cNvSpPr/>
          <p:nvPr/>
        </p:nvSpPr>
        <p:spPr>
          <a:xfrm>
            <a:off x="2441520" y="4617720"/>
            <a:ext cx="1261440" cy="338040"/>
          </a:xfrm>
          <a:prstGeom prst="roundRect">
            <a:avLst>
              <a:gd name="adj" fmla="val 7500"/>
            </a:avLst>
          </a:prstGeom>
          <a:solidFill>
            <a:srgbClr val="f3e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43" name="TextBox 18"/>
          <p:cNvSpPr/>
          <p:nvPr/>
        </p:nvSpPr>
        <p:spPr>
          <a:xfrm>
            <a:off x="2468880" y="4677840"/>
            <a:ext cx="120672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070" spc="-1" strike="noStrike">
                <a:solidFill>
                  <a:srgbClr val="55179d"/>
                </a:solidFill>
                <a:latin typeface="Inter"/>
                <a:ea typeface="+mn-ea"/>
              </a:rPr>
              <a:t>prioridade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ounded Rectangle 19"/>
          <p:cNvSpPr/>
          <p:nvPr/>
        </p:nvSpPr>
        <p:spPr>
          <a:xfrm>
            <a:off x="7479720" y="1974960"/>
            <a:ext cx="3931560" cy="3401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45" name="Rectangle 20"/>
          <p:cNvSpPr/>
          <p:nvPr/>
        </p:nvSpPr>
        <p:spPr>
          <a:xfrm>
            <a:off x="7479720" y="1974960"/>
            <a:ext cx="61920" cy="3401280"/>
          </a:xfrm>
          <a:prstGeom prst="rect">
            <a:avLst/>
          </a:prstGeom>
          <a:solidFill>
            <a:srgbClr val="5517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46" name="TextBox 21"/>
          <p:cNvSpPr/>
          <p:nvPr/>
        </p:nvSpPr>
        <p:spPr>
          <a:xfrm>
            <a:off x="7763400" y="2295000"/>
            <a:ext cx="3346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55179d"/>
                </a:solidFill>
                <a:latin typeface="Inter"/>
                <a:ea typeface="+mn-ea"/>
              </a:rPr>
              <a:t>Uma Issue pode...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22"/>
          <p:cNvSpPr/>
          <p:nvPr/>
        </p:nvSpPr>
        <p:spPr>
          <a:xfrm>
            <a:off x="7763400" y="2807280"/>
            <a:ext cx="3382920" cy="10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610" spc="-1" strike="noStrike">
                <a:solidFill>
                  <a:srgbClr val="171b25"/>
                </a:solidFill>
                <a:latin typeface="Inter"/>
                <a:ea typeface="+mn-ea"/>
              </a:rPr>
              <a:t>• </a:t>
            </a:r>
            <a:r>
              <a:rPr b="0" lang="pt-BR" sz="1610" spc="-1" strike="noStrike">
                <a:solidFill>
                  <a:srgbClr val="171b25"/>
                </a:solidFill>
                <a:latin typeface="Inter"/>
                <a:ea typeface="+mn-ea"/>
              </a:rPr>
              <a:t>Registrar bugs e tarefas</a:t>
            </a:r>
            <a:endParaRPr b="0" lang="pt-BR" sz="16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10" spc="-1" strike="noStrike">
                <a:solidFill>
                  <a:srgbClr val="171b25"/>
                </a:solidFill>
                <a:latin typeface="Inter"/>
                <a:ea typeface="+mn-ea"/>
              </a:rPr>
              <a:t>• </a:t>
            </a:r>
            <a:r>
              <a:rPr b="0" lang="pt-BR" sz="1610" spc="-1" strike="noStrike">
                <a:solidFill>
                  <a:srgbClr val="171b25"/>
                </a:solidFill>
                <a:latin typeface="Inter"/>
                <a:ea typeface="+mn-ea"/>
              </a:rPr>
              <a:t>Propor funcionalidades</a:t>
            </a:r>
            <a:endParaRPr b="0" lang="pt-BR" sz="16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10" spc="-1" strike="noStrike">
                <a:solidFill>
                  <a:srgbClr val="171b25"/>
                </a:solidFill>
                <a:latin typeface="Inter"/>
                <a:ea typeface="+mn-ea"/>
              </a:rPr>
              <a:t>• </a:t>
            </a:r>
            <a:r>
              <a:rPr b="0" lang="pt-BR" sz="1610" spc="-1" strike="noStrike">
                <a:solidFill>
                  <a:srgbClr val="171b25"/>
                </a:solidFill>
                <a:latin typeface="Inter"/>
                <a:ea typeface="+mn-ea"/>
              </a:rPr>
              <a:t>Atribuir responsáveis</a:t>
            </a:r>
            <a:endParaRPr b="0" lang="pt-BR" sz="16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10" spc="-1" strike="noStrike">
                <a:solidFill>
                  <a:srgbClr val="171b25"/>
                </a:solidFill>
                <a:latin typeface="Inter"/>
                <a:ea typeface="+mn-ea"/>
              </a:rPr>
              <a:t>• </a:t>
            </a:r>
            <a:r>
              <a:rPr b="0" lang="pt-BR" sz="1610" spc="-1" strike="noStrike">
                <a:solidFill>
                  <a:srgbClr val="171b25"/>
                </a:solidFill>
                <a:latin typeface="Inter"/>
                <a:ea typeface="+mn-ea"/>
              </a:rPr>
              <a:t>Organizar etiquetas e discussões</a:t>
            </a:r>
            <a:endParaRPr b="0" lang="pt-BR" sz="16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ounded Rectangle 23"/>
          <p:cNvSpPr/>
          <p:nvPr/>
        </p:nvSpPr>
        <p:spPr>
          <a:xfrm>
            <a:off x="1261800" y="5779080"/>
            <a:ext cx="9555120" cy="465840"/>
          </a:xfrm>
          <a:prstGeom prst="roundRect">
            <a:avLst>
              <a:gd name="adj" fmla="val 7500"/>
            </a:avLst>
          </a:prstGeom>
          <a:solidFill>
            <a:srgbClr val="f3e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49" name="TextBox 24"/>
          <p:cNvSpPr/>
          <p:nvPr/>
        </p:nvSpPr>
        <p:spPr>
          <a:xfrm>
            <a:off x="1454040" y="5875560"/>
            <a:ext cx="917100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430" spc="-1" strike="noStrike">
                <a:solidFill>
                  <a:srgbClr val="55179d"/>
                </a:solidFill>
                <a:latin typeface="Inter"/>
                <a:ea typeface="+mn-ea"/>
              </a:rPr>
              <a:t>Issue não é commit: é uma ferramenta de organização e acompanhamento.</a:t>
            </a:r>
            <a:endParaRPr b="0" lang="pt-BR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740160"/>
          </a:xfrm>
          <a:prstGeom prst="rect">
            <a:avLst/>
          </a:prstGeom>
          <a:ln w="0">
            <a:noFill/>
          </a:ln>
        </p:spPr>
      </p:pic>
      <p:sp>
        <p:nvSpPr>
          <p:cNvPr id="151" name="Rectangle 2"/>
          <p:cNvSpPr/>
          <p:nvPr/>
        </p:nvSpPr>
        <p:spPr>
          <a:xfrm>
            <a:off x="676800" y="932760"/>
            <a:ext cx="45360" cy="34704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822960" y="941040"/>
            <a:ext cx="1069812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230" spc="-1" strike="noStrike">
                <a:solidFill>
                  <a:srgbClr val="55179d"/>
                </a:solidFill>
                <a:latin typeface="Inter"/>
                <a:ea typeface="+mn-ea"/>
              </a:rPr>
              <a:t>PULL REQUEST: PROPONDO ALTERAÇÕES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713160" y="1499760"/>
            <a:ext cx="10881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320" spc="-1" strike="noStrike">
                <a:solidFill>
                  <a:srgbClr val="5c6576"/>
                </a:solidFill>
                <a:latin typeface="Inter"/>
                <a:ea typeface="+mn-ea"/>
              </a:rPr>
              <a:t>A branch leva o trabalho; o Pull Request abre uma conversa sobre a integração.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5"/>
          <p:cNvSpPr/>
          <p:nvPr/>
        </p:nvSpPr>
        <p:spPr>
          <a:xfrm>
            <a:off x="484560" y="6553440"/>
            <a:ext cx="457164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60" spc="-1" strike="noStrike">
                <a:solidFill>
                  <a:srgbClr val="99a2ae"/>
                </a:solidFill>
                <a:latin typeface="Inter"/>
                <a:ea typeface="+mn-ea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6"/>
          <p:cNvSpPr/>
          <p:nvPr/>
        </p:nvSpPr>
        <p:spPr>
          <a:xfrm>
            <a:off x="11466720" y="6552000"/>
            <a:ext cx="32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07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ounded Rectangle 7"/>
          <p:cNvSpPr/>
          <p:nvPr/>
        </p:nvSpPr>
        <p:spPr>
          <a:xfrm>
            <a:off x="758880" y="1965960"/>
            <a:ext cx="4617360" cy="33282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57" name="Rectangle 8"/>
          <p:cNvSpPr/>
          <p:nvPr/>
        </p:nvSpPr>
        <p:spPr>
          <a:xfrm>
            <a:off x="758880" y="1965960"/>
            <a:ext cx="61920" cy="332820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58" name="TextBox 9"/>
          <p:cNvSpPr/>
          <p:nvPr/>
        </p:nvSpPr>
        <p:spPr>
          <a:xfrm>
            <a:off x="1051560" y="2295000"/>
            <a:ext cx="40046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920" spc="-1" strike="noStrike">
                <a:solidFill>
                  <a:srgbClr val="55179d"/>
                </a:solidFill>
                <a:latin typeface="Inter"/>
                <a:ea typeface="+mn-ea"/>
              </a:rPr>
              <a:t>Fluxo básico</a:t>
            </a:r>
            <a:endParaRPr b="0" lang="pt-BR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10"/>
          <p:cNvSpPr/>
          <p:nvPr/>
        </p:nvSpPr>
        <p:spPr>
          <a:xfrm>
            <a:off x="1060560" y="2788920"/>
            <a:ext cx="3885840" cy="12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640" spc="-1" strike="noStrike">
                <a:solidFill>
                  <a:srgbClr val="171b25"/>
                </a:solidFill>
                <a:latin typeface="Inter"/>
                <a:ea typeface="+mn-ea"/>
              </a:rPr>
              <a:t>1. Criar e alterar uma branch</a:t>
            </a:r>
            <a:endParaRPr b="0" lang="pt-BR" sz="164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40" spc="-1" strike="noStrike">
                <a:solidFill>
                  <a:srgbClr val="171b25"/>
                </a:solidFill>
                <a:latin typeface="Inter"/>
                <a:ea typeface="+mn-ea"/>
              </a:rPr>
              <a:t>2. Registrar commits</a:t>
            </a:r>
            <a:endParaRPr b="0" lang="pt-BR" sz="164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40" spc="-1" strike="noStrike">
                <a:solidFill>
                  <a:srgbClr val="171b25"/>
                </a:solidFill>
                <a:latin typeface="Inter"/>
                <a:ea typeface="+mn-ea"/>
              </a:rPr>
              <a:t>3. Fazer push da branch</a:t>
            </a:r>
            <a:endParaRPr b="0" lang="pt-BR" sz="164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40" spc="-1" strike="noStrike">
                <a:solidFill>
                  <a:srgbClr val="171b25"/>
                </a:solidFill>
                <a:latin typeface="Inter"/>
                <a:ea typeface="+mn-ea"/>
              </a:rPr>
              <a:t>4. Abrir um Pull Request</a:t>
            </a:r>
            <a:endParaRPr b="0" lang="pt-BR" sz="164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640" spc="-1" strike="noStrike">
                <a:solidFill>
                  <a:srgbClr val="171b25"/>
                </a:solidFill>
                <a:latin typeface="Inter"/>
                <a:ea typeface="+mn-ea"/>
              </a:rPr>
              <a:t>5. Revisar e integrar</a:t>
            </a:r>
            <a:endParaRPr b="0" lang="pt-BR" sz="1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ounded Rectangle 11"/>
          <p:cNvSpPr/>
          <p:nvPr/>
        </p:nvSpPr>
        <p:spPr>
          <a:xfrm>
            <a:off x="5833800" y="2075760"/>
            <a:ext cx="1828440" cy="667080"/>
          </a:xfrm>
          <a:prstGeom prst="roundRect">
            <a:avLst>
              <a:gd name="adj" fmla="val 7500"/>
            </a:avLst>
          </a:prstGeom>
          <a:solidFill>
            <a:srgbClr val="e7f9f7"/>
          </a:solidFill>
          <a:ln w="10160">
            <a:solidFill>
              <a:srgbClr val="0dba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61" name="TextBox 12"/>
          <p:cNvSpPr/>
          <p:nvPr/>
        </p:nvSpPr>
        <p:spPr>
          <a:xfrm>
            <a:off x="5916240" y="225360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500" spc="-1" strike="noStrike">
                <a:solidFill>
                  <a:srgbClr val="078f91"/>
                </a:solidFill>
                <a:latin typeface="Inter"/>
                <a:ea typeface="+mn-ea"/>
              </a:rPr>
              <a:t>feature/filtro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13"/>
          <p:cNvSpPr/>
          <p:nvPr/>
        </p:nvSpPr>
        <p:spPr>
          <a:xfrm>
            <a:off x="7763400" y="2191680"/>
            <a:ext cx="5482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500" spc="-1" strike="noStrike">
                <a:solidFill>
                  <a:srgbClr val="55179d"/>
                </a:solidFill>
                <a:latin typeface="Inter"/>
                <a:ea typeface="+mn-ea"/>
              </a:rPr>
              <a:t>→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ounded Rectangle 14"/>
          <p:cNvSpPr/>
          <p:nvPr/>
        </p:nvSpPr>
        <p:spPr>
          <a:xfrm>
            <a:off x="8284320" y="2030040"/>
            <a:ext cx="2788560" cy="776880"/>
          </a:xfrm>
          <a:prstGeom prst="roundRect">
            <a:avLst>
              <a:gd name="adj" fmla="val 7500"/>
            </a:avLst>
          </a:prstGeom>
          <a:solidFill>
            <a:srgbClr val="f3e6fc"/>
          </a:solidFill>
          <a:ln w="10160">
            <a:solidFill>
              <a:srgbClr val="5517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64" name="TextBox 15"/>
          <p:cNvSpPr/>
          <p:nvPr/>
        </p:nvSpPr>
        <p:spPr>
          <a:xfrm>
            <a:off x="8385120" y="2234160"/>
            <a:ext cx="260568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000" spc="-1" strike="noStrike">
                <a:solidFill>
                  <a:srgbClr val="55179d"/>
                </a:solidFill>
                <a:latin typeface="Inter"/>
                <a:ea typeface="+mn-ea"/>
              </a:rPr>
              <a:t>Pull Request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5" name="Connector 16"/>
          <p:cNvCxnSpPr/>
          <p:nvPr/>
        </p:nvCxnSpPr>
        <p:spPr>
          <a:xfrm>
            <a:off x="9674280" y="2862000"/>
            <a:ext cx="360" cy="402480"/>
          </a:xfrm>
          <a:prstGeom prst="straightConnector1">
            <a:avLst/>
          </a:prstGeom>
          <a:ln w="25400">
            <a:solidFill>
              <a:srgbClr val="55179d"/>
            </a:solidFill>
            <a:round/>
          </a:ln>
        </p:spPr>
      </p:cxnSp>
      <p:sp>
        <p:nvSpPr>
          <p:cNvPr id="166" name="TextBox 17"/>
          <p:cNvSpPr/>
          <p:nvPr/>
        </p:nvSpPr>
        <p:spPr>
          <a:xfrm>
            <a:off x="9409320" y="3165480"/>
            <a:ext cx="5482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200" spc="-1" strike="noStrike">
                <a:solidFill>
                  <a:srgbClr val="55179d"/>
                </a:solidFill>
                <a:latin typeface="Inter"/>
                <a:ea typeface="+mn-ea"/>
              </a:rPr>
              <a:t>↓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ounded Rectangle 18"/>
          <p:cNvSpPr/>
          <p:nvPr/>
        </p:nvSpPr>
        <p:spPr>
          <a:xfrm>
            <a:off x="8284320" y="3721680"/>
            <a:ext cx="2788560" cy="758520"/>
          </a:xfrm>
          <a:prstGeom prst="roundRect">
            <a:avLst>
              <a:gd name="adj" fmla="val 7500"/>
            </a:avLst>
          </a:prstGeom>
          <a:solidFill>
            <a:srgbClr val="e7f9f7"/>
          </a:solidFill>
          <a:ln w="10160">
            <a:solidFill>
              <a:srgbClr val="0dba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68" name="TextBox 19"/>
          <p:cNvSpPr/>
          <p:nvPr/>
        </p:nvSpPr>
        <p:spPr>
          <a:xfrm>
            <a:off x="8375760" y="3903120"/>
            <a:ext cx="261468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000" spc="-1" strike="noStrike">
                <a:solidFill>
                  <a:srgbClr val="078f91"/>
                </a:solidFill>
                <a:latin typeface="Inter"/>
                <a:ea typeface="+mn-ea"/>
              </a:rPr>
              <a:t>main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20"/>
          <p:cNvSpPr/>
          <p:nvPr/>
        </p:nvSpPr>
        <p:spPr>
          <a:xfrm>
            <a:off x="5824800" y="4855320"/>
            <a:ext cx="5504400" cy="4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80" spc="-1" strike="noStrike">
                <a:solidFill>
                  <a:srgbClr val="171b25"/>
                </a:solidFill>
                <a:latin typeface="Inter"/>
                <a:ea typeface="+mn-ea"/>
              </a:rPr>
              <a:t>O PR compara branches, permite comentários e pode finalizar com um merge.</a:t>
            </a:r>
            <a:endParaRPr b="0" lang="pt-BR" sz="1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ounded Rectangle 21"/>
          <p:cNvSpPr/>
          <p:nvPr/>
        </p:nvSpPr>
        <p:spPr>
          <a:xfrm>
            <a:off x="1234440" y="5760720"/>
            <a:ext cx="9738000" cy="502560"/>
          </a:xfrm>
          <a:prstGeom prst="roundRect">
            <a:avLst>
              <a:gd name="adj" fmla="val 7500"/>
            </a:avLst>
          </a:prstGeom>
          <a:solidFill>
            <a:srgbClr val="f3e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71" name="TextBox 22"/>
          <p:cNvSpPr/>
          <p:nvPr/>
        </p:nvSpPr>
        <p:spPr>
          <a:xfrm>
            <a:off x="1408320" y="5883480"/>
            <a:ext cx="9372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450" spc="-1" strike="noStrike">
                <a:solidFill>
                  <a:srgbClr val="55179d"/>
                </a:solidFill>
                <a:latin typeface="Inter"/>
                <a:ea typeface="+mn-ea"/>
              </a:rPr>
              <a:t>Um PR propõe a integração; ele não realiza o merge automaticamente.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740160"/>
          </a:xfrm>
          <a:prstGeom prst="rect">
            <a:avLst/>
          </a:prstGeom>
          <a:ln w="0">
            <a:noFill/>
          </a:ln>
        </p:spPr>
      </p:pic>
      <p:sp>
        <p:nvSpPr>
          <p:cNvPr id="173" name="Rectangle 2"/>
          <p:cNvSpPr/>
          <p:nvPr/>
        </p:nvSpPr>
        <p:spPr>
          <a:xfrm>
            <a:off x="676800" y="932760"/>
            <a:ext cx="45360" cy="34704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822960" y="941040"/>
            <a:ext cx="1069812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230" spc="-1" strike="noStrike">
                <a:solidFill>
                  <a:srgbClr val="55179d"/>
                </a:solidFill>
                <a:latin typeface="Inter"/>
                <a:ea typeface="+mn-ea"/>
              </a:rPr>
              <a:t>CODE REVIEW: REVISÃO DE CÓDIGO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4"/>
          <p:cNvSpPr/>
          <p:nvPr/>
        </p:nvSpPr>
        <p:spPr>
          <a:xfrm>
            <a:off x="713160" y="1499760"/>
            <a:ext cx="10881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320" spc="-1" strike="noStrike">
                <a:solidFill>
                  <a:srgbClr val="5c6576"/>
                </a:solidFill>
                <a:latin typeface="Inter"/>
                <a:ea typeface="+mn-ea"/>
              </a:rPr>
              <a:t>O Pull Request permite revisar mudanças antes de integrá-las à branch principal.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5"/>
          <p:cNvSpPr/>
          <p:nvPr/>
        </p:nvSpPr>
        <p:spPr>
          <a:xfrm>
            <a:off x="484560" y="6553440"/>
            <a:ext cx="457164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60" spc="-1" strike="noStrike">
                <a:solidFill>
                  <a:srgbClr val="99a2ae"/>
                </a:solidFill>
                <a:latin typeface="Inter"/>
                <a:ea typeface="+mn-ea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6"/>
          <p:cNvSpPr/>
          <p:nvPr/>
        </p:nvSpPr>
        <p:spPr>
          <a:xfrm>
            <a:off x="11466720" y="6552000"/>
            <a:ext cx="32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08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ounded Rectangle 7"/>
          <p:cNvSpPr/>
          <p:nvPr/>
        </p:nvSpPr>
        <p:spPr>
          <a:xfrm>
            <a:off x="749880" y="2240280"/>
            <a:ext cx="3593160" cy="2880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79" name="Rectangle 8"/>
          <p:cNvSpPr/>
          <p:nvPr/>
        </p:nvSpPr>
        <p:spPr>
          <a:xfrm>
            <a:off x="749880" y="2240280"/>
            <a:ext cx="61920" cy="288000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80" name="Rounded Rectangle 9"/>
          <p:cNvSpPr/>
          <p:nvPr/>
        </p:nvSpPr>
        <p:spPr>
          <a:xfrm>
            <a:off x="978480" y="2487240"/>
            <a:ext cx="648720" cy="338040"/>
          </a:xfrm>
          <a:prstGeom prst="roundRect">
            <a:avLst>
              <a:gd name="adj" fmla="val 7500"/>
            </a:avLst>
          </a:prstGeom>
          <a:solidFill>
            <a:srgbClr val="e7f9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1005840" y="2529720"/>
            <a:ext cx="59400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pc="-1" strike="noStrike">
                <a:solidFill>
                  <a:srgbClr val="0dbab5"/>
                </a:solidFill>
                <a:latin typeface="Inter"/>
                <a:ea typeface="+mn-ea"/>
              </a:rPr>
              <a:t>01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11"/>
          <p:cNvSpPr/>
          <p:nvPr/>
        </p:nvSpPr>
        <p:spPr>
          <a:xfrm>
            <a:off x="978480" y="3032640"/>
            <a:ext cx="30718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779" spc="-1" strike="noStrike">
                <a:solidFill>
                  <a:srgbClr val="0dbab5"/>
                </a:solidFill>
                <a:latin typeface="Inter"/>
                <a:ea typeface="+mn-ea"/>
              </a:rPr>
              <a:t>CONVERSA</a:t>
            </a:r>
            <a:endParaRPr b="0" lang="pt-BR" sz="17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12"/>
          <p:cNvSpPr/>
          <p:nvPr/>
        </p:nvSpPr>
        <p:spPr>
          <a:xfrm>
            <a:off x="978480" y="3593520"/>
            <a:ext cx="3044520" cy="78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620" spc="-1" strike="noStrike">
                <a:solidFill>
                  <a:srgbClr val="171b25"/>
                </a:solidFill>
                <a:latin typeface="Inter"/>
                <a:ea typeface="+mn-ea"/>
              </a:rPr>
              <a:t>Descrever o que mudou, o motivo e o que deve ser validado.</a:t>
            </a:r>
            <a:endParaRPr b="0" lang="pt-BR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ounded Rectangle 13"/>
          <p:cNvSpPr/>
          <p:nvPr/>
        </p:nvSpPr>
        <p:spPr>
          <a:xfrm>
            <a:off x="4636080" y="2240280"/>
            <a:ext cx="3593160" cy="2880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85" name="Rectangle 14"/>
          <p:cNvSpPr/>
          <p:nvPr/>
        </p:nvSpPr>
        <p:spPr>
          <a:xfrm>
            <a:off x="4636080" y="2240280"/>
            <a:ext cx="61920" cy="2880000"/>
          </a:xfrm>
          <a:prstGeom prst="rect">
            <a:avLst/>
          </a:prstGeom>
          <a:solidFill>
            <a:srgbClr val="5517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86" name="Rounded Rectangle 15"/>
          <p:cNvSpPr/>
          <p:nvPr/>
        </p:nvSpPr>
        <p:spPr>
          <a:xfrm>
            <a:off x="4864680" y="2487240"/>
            <a:ext cx="648720" cy="338040"/>
          </a:xfrm>
          <a:prstGeom prst="roundRect">
            <a:avLst>
              <a:gd name="adj" fmla="val 7500"/>
            </a:avLst>
          </a:prstGeom>
          <a:solidFill>
            <a:srgbClr val="f3e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87" name="TextBox 16"/>
          <p:cNvSpPr/>
          <p:nvPr/>
        </p:nvSpPr>
        <p:spPr>
          <a:xfrm>
            <a:off x="4892040" y="2529720"/>
            <a:ext cx="59400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pc="-1" strike="noStrike">
                <a:solidFill>
                  <a:srgbClr val="55179d"/>
                </a:solidFill>
                <a:latin typeface="Inter"/>
                <a:ea typeface="+mn-ea"/>
              </a:rPr>
              <a:t>02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17"/>
          <p:cNvSpPr/>
          <p:nvPr/>
        </p:nvSpPr>
        <p:spPr>
          <a:xfrm>
            <a:off x="4864680" y="3032640"/>
            <a:ext cx="30718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779" spc="-1" strike="noStrike">
                <a:solidFill>
                  <a:srgbClr val="55179d"/>
                </a:solidFill>
                <a:latin typeface="Inter"/>
                <a:ea typeface="+mn-ea"/>
              </a:rPr>
              <a:t>FILES CHANGED</a:t>
            </a:r>
            <a:endParaRPr b="0" lang="pt-BR" sz="17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18"/>
          <p:cNvSpPr/>
          <p:nvPr/>
        </p:nvSpPr>
        <p:spPr>
          <a:xfrm>
            <a:off x="4864680" y="3593520"/>
            <a:ext cx="3044520" cy="78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620" spc="-1" strike="noStrike">
                <a:solidFill>
                  <a:srgbClr val="171b25"/>
                </a:solidFill>
                <a:latin typeface="Inter"/>
                <a:ea typeface="+mn-ea"/>
              </a:rPr>
              <a:t>Examinar o diff: linhas adicionadas, removidas e modificadas.</a:t>
            </a:r>
            <a:endParaRPr b="0" lang="pt-BR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ounded Rectangle 19"/>
          <p:cNvSpPr/>
          <p:nvPr/>
        </p:nvSpPr>
        <p:spPr>
          <a:xfrm>
            <a:off x="8522280" y="2240280"/>
            <a:ext cx="3593160" cy="2880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91" name="Rectangle 20"/>
          <p:cNvSpPr/>
          <p:nvPr/>
        </p:nvSpPr>
        <p:spPr>
          <a:xfrm>
            <a:off x="8522280" y="2240280"/>
            <a:ext cx="61920" cy="288000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92" name="Rounded Rectangle 21"/>
          <p:cNvSpPr/>
          <p:nvPr/>
        </p:nvSpPr>
        <p:spPr>
          <a:xfrm>
            <a:off x="8750880" y="2487240"/>
            <a:ext cx="648720" cy="338040"/>
          </a:xfrm>
          <a:prstGeom prst="roundRect">
            <a:avLst>
              <a:gd name="adj" fmla="val 7500"/>
            </a:avLst>
          </a:prstGeom>
          <a:solidFill>
            <a:srgbClr val="e7f9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93" name="TextBox 22"/>
          <p:cNvSpPr/>
          <p:nvPr/>
        </p:nvSpPr>
        <p:spPr>
          <a:xfrm>
            <a:off x="8778240" y="2529720"/>
            <a:ext cx="59400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pc="-1" strike="noStrike">
                <a:solidFill>
                  <a:srgbClr val="0dbab5"/>
                </a:solidFill>
                <a:latin typeface="Inter"/>
                <a:ea typeface="+mn-ea"/>
              </a:rPr>
              <a:t>03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23"/>
          <p:cNvSpPr/>
          <p:nvPr/>
        </p:nvSpPr>
        <p:spPr>
          <a:xfrm>
            <a:off x="8750880" y="3032640"/>
            <a:ext cx="30718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779" spc="-1" strike="noStrike">
                <a:solidFill>
                  <a:srgbClr val="0dbab5"/>
                </a:solidFill>
                <a:latin typeface="Inter"/>
                <a:ea typeface="+mn-ea"/>
              </a:rPr>
              <a:t>DECISÃO</a:t>
            </a:r>
            <a:endParaRPr b="0" lang="pt-BR" sz="17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24"/>
          <p:cNvSpPr/>
          <p:nvPr/>
        </p:nvSpPr>
        <p:spPr>
          <a:xfrm>
            <a:off x="8750880" y="3593520"/>
            <a:ext cx="304452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620" spc="-1" strike="noStrike">
                <a:solidFill>
                  <a:srgbClr val="171b25"/>
                </a:solidFill>
                <a:latin typeface="Inter"/>
                <a:ea typeface="+mn-ea"/>
              </a:rPr>
              <a:t>Comentar, solicitar ajustes ou aprovar a mudança.</a:t>
            </a:r>
            <a:endParaRPr b="0" lang="pt-BR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ounded Rectangle 25"/>
          <p:cNvSpPr/>
          <p:nvPr/>
        </p:nvSpPr>
        <p:spPr>
          <a:xfrm>
            <a:off x="1234440" y="5596200"/>
            <a:ext cx="9738000" cy="603000"/>
          </a:xfrm>
          <a:prstGeom prst="roundRect">
            <a:avLst>
              <a:gd name="adj" fmla="val 7500"/>
            </a:avLst>
          </a:prstGeom>
          <a:solidFill>
            <a:srgbClr val="f3e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97" name="TextBox 26"/>
          <p:cNvSpPr/>
          <p:nvPr/>
        </p:nvSpPr>
        <p:spPr>
          <a:xfrm>
            <a:off x="1408320" y="5760360"/>
            <a:ext cx="93722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440" spc="-1" strike="noStrike">
                <a:solidFill>
                  <a:srgbClr val="55179d"/>
                </a:solidFill>
                <a:latin typeface="Inter"/>
                <a:ea typeface="+mn-ea"/>
              </a:rPr>
              <a:t>Após a revisão e as verificações necessárias, o PR pode ser mesclado.</a:t>
            </a:r>
            <a:endParaRPr b="0" lang="pt-BR" sz="14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740160"/>
          </a:xfrm>
          <a:prstGeom prst="rect">
            <a:avLst/>
          </a:prstGeom>
          <a:ln w="0">
            <a:noFill/>
          </a:ln>
        </p:spPr>
      </p:pic>
      <p:sp>
        <p:nvSpPr>
          <p:cNvPr id="199" name="Rectangle 2"/>
          <p:cNvSpPr/>
          <p:nvPr/>
        </p:nvSpPr>
        <p:spPr>
          <a:xfrm>
            <a:off x="676800" y="932760"/>
            <a:ext cx="45360" cy="34704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00" name="TextBox 3"/>
          <p:cNvSpPr/>
          <p:nvPr/>
        </p:nvSpPr>
        <p:spPr>
          <a:xfrm>
            <a:off x="822960" y="941040"/>
            <a:ext cx="1069812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230" spc="-1" strike="noStrike">
                <a:solidFill>
                  <a:srgbClr val="55179d"/>
                </a:solidFill>
                <a:latin typeface="Inter"/>
                <a:ea typeface="+mn-ea"/>
              </a:rPr>
              <a:t>COLABORAÇÃO: DO PROBLEMA AO MERGE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4"/>
          <p:cNvSpPr/>
          <p:nvPr/>
        </p:nvSpPr>
        <p:spPr>
          <a:xfrm>
            <a:off x="713160" y="1499760"/>
            <a:ext cx="10881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320" spc="-1" strike="noStrike">
                <a:solidFill>
                  <a:srgbClr val="5c6576"/>
                </a:solidFill>
                <a:latin typeface="Inter"/>
                <a:ea typeface="+mn-ea"/>
              </a:rPr>
              <a:t>Um fluxo comum no GitHub reúne organização, desenvolvimento e revisão.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5"/>
          <p:cNvSpPr/>
          <p:nvPr/>
        </p:nvSpPr>
        <p:spPr>
          <a:xfrm>
            <a:off x="484560" y="6553440"/>
            <a:ext cx="457164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60" spc="-1" strike="noStrike">
                <a:solidFill>
                  <a:srgbClr val="99a2ae"/>
                </a:solidFill>
                <a:latin typeface="Inter"/>
                <a:ea typeface="+mn-ea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6"/>
          <p:cNvSpPr/>
          <p:nvPr/>
        </p:nvSpPr>
        <p:spPr>
          <a:xfrm>
            <a:off x="11466720" y="6552000"/>
            <a:ext cx="32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09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ounded Rectangle 7"/>
          <p:cNvSpPr/>
          <p:nvPr/>
        </p:nvSpPr>
        <p:spPr>
          <a:xfrm>
            <a:off x="749880" y="1993320"/>
            <a:ext cx="3584160" cy="14353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05" name="Rectangle 8"/>
          <p:cNvSpPr/>
          <p:nvPr/>
        </p:nvSpPr>
        <p:spPr>
          <a:xfrm>
            <a:off x="749880" y="1993320"/>
            <a:ext cx="61920" cy="143532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06" name="Rounded Rectangle 9"/>
          <p:cNvSpPr/>
          <p:nvPr/>
        </p:nvSpPr>
        <p:spPr>
          <a:xfrm>
            <a:off x="914400" y="2176200"/>
            <a:ext cx="475200" cy="338040"/>
          </a:xfrm>
          <a:prstGeom prst="roundRect">
            <a:avLst>
              <a:gd name="adj" fmla="val 7500"/>
            </a:avLst>
          </a:prstGeom>
          <a:solidFill>
            <a:srgbClr val="e7f9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941760" y="2234160"/>
            <a:ext cx="42012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100" spc="-1" strike="noStrike">
                <a:solidFill>
                  <a:srgbClr val="0dbab5"/>
                </a:solidFill>
                <a:latin typeface="Inter"/>
                <a:ea typeface="+mn-ea"/>
              </a:rPr>
              <a:t>1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11"/>
          <p:cNvSpPr/>
          <p:nvPr/>
        </p:nvSpPr>
        <p:spPr>
          <a:xfrm>
            <a:off x="1472040" y="2225880"/>
            <a:ext cx="26240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750" spc="-1" strike="noStrike">
                <a:solidFill>
                  <a:srgbClr val="0dbab5"/>
                </a:solidFill>
                <a:latin typeface="Inter"/>
                <a:ea typeface="+mn-ea"/>
              </a:rPr>
              <a:t>ISSUE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12"/>
          <p:cNvSpPr/>
          <p:nvPr/>
        </p:nvSpPr>
        <p:spPr>
          <a:xfrm>
            <a:off x="941760" y="2808360"/>
            <a:ext cx="31726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540" spc="-1" strike="noStrike">
                <a:solidFill>
                  <a:srgbClr val="171b25"/>
                </a:solidFill>
                <a:latin typeface="Inter"/>
                <a:ea typeface="+mn-ea"/>
              </a:rPr>
              <a:t>Registrar tarefa</a:t>
            </a:r>
            <a:endParaRPr b="0" lang="pt-BR" sz="1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13"/>
          <p:cNvSpPr/>
          <p:nvPr/>
        </p:nvSpPr>
        <p:spPr>
          <a:xfrm>
            <a:off x="4260960" y="2589480"/>
            <a:ext cx="5482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200" spc="-1" strike="noStrike">
                <a:solidFill>
                  <a:srgbClr val="99a2ae"/>
                </a:solidFill>
                <a:latin typeface="Inter"/>
                <a:ea typeface="+mn-ea"/>
              </a:rPr>
              <a:t>→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ounded Rectangle 14"/>
          <p:cNvSpPr/>
          <p:nvPr/>
        </p:nvSpPr>
        <p:spPr>
          <a:xfrm>
            <a:off x="4636080" y="1993320"/>
            <a:ext cx="3584160" cy="14353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12" name="Rectangle 15"/>
          <p:cNvSpPr/>
          <p:nvPr/>
        </p:nvSpPr>
        <p:spPr>
          <a:xfrm>
            <a:off x="4636080" y="1993320"/>
            <a:ext cx="61920" cy="1435320"/>
          </a:xfrm>
          <a:prstGeom prst="rect">
            <a:avLst/>
          </a:prstGeom>
          <a:solidFill>
            <a:srgbClr val="5517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13" name="Rounded Rectangle 16"/>
          <p:cNvSpPr/>
          <p:nvPr/>
        </p:nvSpPr>
        <p:spPr>
          <a:xfrm>
            <a:off x="4800600" y="2176200"/>
            <a:ext cx="475200" cy="338040"/>
          </a:xfrm>
          <a:prstGeom prst="roundRect">
            <a:avLst>
              <a:gd name="adj" fmla="val 7500"/>
            </a:avLst>
          </a:prstGeom>
          <a:solidFill>
            <a:srgbClr val="f3e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14" name="TextBox 17"/>
          <p:cNvSpPr/>
          <p:nvPr/>
        </p:nvSpPr>
        <p:spPr>
          <a:xfrm>
            <a:off x="4827960" y="2234160"/>
            <a:ext cx="42012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100" spc="-1" strike="noStrike">
                <a:solidFill>
                  <a:srgbClr val="55179d"/>
                </a:solidFill>
                <a:latin typeface="Inter"/>
                <a:ea typeface="+mn-ea"/>
              </a:rPr>
              <a:t>2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8"/>
          <p:cNvSpPr/>
          <p:nvPr/>
        </p:nvSpPr>
        <p:spPr>
          <a:xfrm>
            <a:off x="5358240" y="2225880"/>
            <a:ext cx="26240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750" spc="-1" strike="noStrike">
                <a:solidFill>
                  <a:srgbClr val="55179d"/>
                </a:solidFill>
                <a:latin typeface="Inter"/>
                <a:ea typeface="+mn-ea"/>
              </a:rPr>
              <a:t>BRANCH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19"/>
          <p:cNvSpPr/>
          <p:nvPr/>
        </p:nvSpPr>
        <p:spPr>
          <a:xfrm>
            <a:off x="4827960" y="2808360"/>
            <a:ext cx="31726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540" spc="-1" strike="noStrike">
                <a:solidFill>
                  <a:srgbClr val="171b25"/>
                </a:solidFill>
                <a:latin typeface="Inter"/>
                <a:ea typeface="+mn-ea"/>
              </a:rPr>
              <a:t>Isolar a mudança</a:t>
            </a:r>
            <a:endParaRPr b="0" lang="pt-BR" sz="1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20"/>
          <p:cNvSpPr/>
          <p:nvPr/>
        </p:nvSpPr>
        <p:spPr>
          <a:xfrm>
            <a:off x="8147160" y="2589480"/>
            <a:ext cx="5482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200" spc="-1" strike="noStrike">
                <a:solidFill>
                  <a:srgbClr val="99a2ae"/>
                </a:solidFill>
                <a:latin typeface="Inter"/>
                <a:ea typeface="+mn-ea"/>
              </a:rPr>
              <a:t>→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Rounded Rectangle 21"/>
          <p:cNvSpPr/>
          <p:nvPr/>
        </p:nvSpPr>
        <p:spPr>
          <a:xfrm>
            <a:off x="8522280" y="1993320"/>
            <a:ext cx="3584160" cy="14353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19" name="Rectangle 22"/>
          <p:cNvSpPr/>
          <p:nvPr/>
        </p:nvSpPr>
        <p:spPr>
          <a:xfrm>
            <a:off x="8522280" y="1993320"/>
            <a:ext cx="61920" cy="143532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20" name="Rounded Rectangle 23"/>
          <p:cNvSpPr/>
          <p:nvPr/>
        </p:nvSpPr>
        <p:spPr>
          <a:xfrm>
            <a:off x="8686800" y="2176200"/>
            <a:ext cx="475200" cy="338040"/>
          </a:xfrm>
          <a:prstGeom prst="roundRect">
            <a:avLst>
              <a:gd name="adj" fmla="val 7500"/>
            </a:avLst>
          </a:prstGeom>
          <a:solidFill>
            <a:srgbClr val="e7f9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21" name="TextBox 24"/>
          <p:cNvSpPr/>
          <p:nvPr/>
        </p:nvSpPr>
        <p:spPr>
          <a:xfrm>
            <a:off x="8714160" y="2234160"/>
            <a:ext cx="42012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100" spc="-1" strike="noStrike">
                <a:solidFill>
                  <a:srgbClr val="0dbab5"/>
                </a:solidFill>
                <a:latin typeface="Inter"/>
                <a:ea typeface="+mn-ea"/>
              </a:rPr>
              <a:t>3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Box 25"/>
          <p:cNvSpPr/>
          <p:nvPr/>
        </p:nvSpPr>
        <p:spPr>
          <a:xfrm>
            <a:off x="9244440" y="2225880"/>
            <a:ext cx="26240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750" spc="-1" strike="noStrike">
                <a:solidFill>
                  <a:srgbClr val="0dbab5"/>
                </a:solidFill>
                <a:latin typeface="Inter"/>
                <a:ea typeface="+mn-ea"/>
              </a:rPr>
              <a:t>COMMIT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26"/>
          <p:cNvSpPr/>
          <p:nvPr/>
        </p:nvSpPr>
        <p:spPr>
          <a:xfrm>
            <a:off x="8714160" y="2808360"/>
            <a:ext cx="31726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540" spc="-1" strike="noStrike">
                <a:solidFill>
                  <a:srgbClr val="171b25"/>
                </a:solidFill>
                <a:latin typeface="Inter"/>
                <a:ea typeface="+mn-ea"/>
              </a:rPr>
              <a:t>Salvar alterações</a:t>
            </a:r>
            <a:endParaRPr b="0" lang="pt-BR" sz="1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ounded Rectangle 27"/>
          <p:cNvSpPr/>
          <p:nvPr/>
        </p:nvSpPr>
        <p:spPr>
          <a:xfrm>
            <a:off x="749880" y="3867840"/>
            <a:ext cx="3584160" cy="14353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25" name="Rectangle 28"/>
          <p:cNvSpPr/>
          <p:nvPr/>
        </p:nvSpPr>
        <p:spPr>
          <a:xfrm>
            <a:off x="749880" y="3867840"/>
            <a:ext cx="61920" cy="1435320"/>
          </a:xfrm>
          <a:prstGeom prst="rect">
            <a:avLst/>
          </a:prstGeom>
          <a:solidFill>
            <a:srgbClr val="5517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26" name="Rounded Rectangle 29"/>
          <p:cNvSpPr/>
          <p:nvPr/>
        </p:nvSpPr>
        <p:spPr>
          <a:xfrm>
            <a:off x="914400" y="4050720"/>
            <a:ext cx="475200" cy="338040"/>
          </a:xfrm>
          <a:prstGeom prst="roundRect">
            <a:avLst>
              <a:gd name="adj" fmla="val 7500"/>
            </a:avLst>
          </a:prstGeom>
          <a:solidFill>
            <a:srgbClr val="f3e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27" name="TextBox 30"/>
          <p:cNvSpPr/>
          <p:nvPr/>
        </p:nvSpPr>
        <p:spPr>
          <a:xfrm>
            <a:off x="941760" y="4108680"/>
            <a:ext cx="42012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100" spc="-1" strike="noStrike">
                <a:solidFill>
                  <a:srgbClr val="55179d"/>
                </a:solidFill>
                <a:latin typeface="Inter"/>
                <a:ea typeface="+mn-ea"/>
              </a:rPr>
              <a:t>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31"/>
          <p:cNvSpPr/>
          <p:nvPr/>
        </p:nvSpPr>
        <p:spPr>
          <a:xfrm>
            <a:off x="1472040" y="4100400"/>
            <a:ext cx="26240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750" spc="-1" strike="noStrike">
                <a:solidFill>
                  <a:srgbClr val="55179d"/>
                </a:solidFill>
                <a:latin typeface="Inter"/>
                <a:ea typeface="+mn-ea"/>
              </a:rPr>
              <a:t>PUSH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32"/>
          <p:cNvSpPr/>
          <p:nvPr/>
        </p:nvSpPr>
        <p:spPr>
          <a:xfrm>
            <a:off x="941760" y="4682880"/>
            <a:ext cx="31726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540" spc="-1" strike="noStrike">
                <a:solidFill>
                  <a:srgbClr val="171b25"/>
                </a:solidFill>
                <a:latin typeface="Inter"/>
                <a:ea typeface="+mn-ea"/>
              </a:rPr>
              <a:t>Enviar a branch</a:t>
            </a:r>
            <a:endParaRPr b="0" lang="pt-BR" sz="1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33"/>
          <p:cNvSpPr/>
          <p:nvPr/>
        </p:nvSpPr>
        <p:spPr>
          <a:xfrm>
            <a:off x="4260960" y="4464000"/>
            <a:ext cx="5482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200" spc="-1" strike="noStrike">
                <a:solidFill>
                  <a:srgbClr val="99a2ae"/>
                </a:solidFill>
                <a:latin typeface="Inter"/>
                <a:ea typeface="+mn-ea"/>
              </a:rPr>
              <a:t>→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ounded Rectangle 34"/>
          <p:cNvSpPr/>
          <p:nvPr/>
        </p:nvSpPr>
        <p:spPr>
          <a:xfrm>
            <a:off x="4636080" y="3867840"/>
            <a:ext cx="3584160" cy="14353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32" name="Rectangle 35"/>
          <p:cNvSpPr/>
          <p:nvPr/>
        </p:nvSpPr>
        <p:spPr>
          <a:xfrm>
            <a:off x="4636080" y="3867840"/>
            <a:ext cx="61920" cy="143532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33" name="Rounded Rectangle 36"/>
          <p:cNvSpPr/>
          <p:nvPr/>
        </p:nvSpPr>
        <p:spPr>
          <a:xfrm>
            <a:off x="4800600" y="4050720"/>
            <a:ext cx="475200" cy="338040"/>
          </a:xfrm>
          <a:prstGeom prst="roundRect">
            <a:avLst>
              <a:gd name="adj" fmla="val 7500"/>
            </a:avLst>
          </a:prstGeom>
          <a:solidFill>
            <a:srgbClr val="e7f9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34" name="TextBox 37"/>
          <p:cNvSpPr/>
          <p:nvPr/>
        </p:nvSpPr>
        <p:spPr>
          <a:xfrm>
            <a:off x="4827960" y="4108680"/>
            <a:ext cx="42012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100" spc="-1" strike="noStrike">
                <a:solidFill>
                  <a:srgbClr val="0dbab5"/>
                </a:solidFill>
                <a:latin typeface="Inter"/>
                <a:ea typeface="+mn-ea"/>
              </a:rPr>
              <a:t>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38"/>
          <p:cNvSpPr/>
          <p:nvPr/>
        </p:nvSpPr>
        <p:spPr>
          <a:xfrm>
            <a:off x="5358240" y="4100400"/>
            <a:ext cx="26240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750" spc="-1" strike="noStrike">
                <a:solidFill>
                  <a:srgbClr val="0dbab5"/>
                </a:solidFill>
                <a:latin typeface="Inter"/>
                <a:ea typeface="+mn-ea"/>
              </a:rPr>
              <a:t>PULL REQUEST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39"/>
          <p:cNvSpPr/>
          <p:nvPr/>
        </p:nvSpPr>
        <p:spPr>
          <a:xfrm>
            <a:off x="4827960" y="4682880"/>
            <a:ext cx="31726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540" spc="-1" strike="noStrike">
                <a:solidFill>
                  <a:srgbClr val="171b25"/>
                </a:solidFill>
                <a:latin typeface="Inter"/>
                <a:ea typeface="+mn-ea"/>
              </a:rPr>
              <a:t>Propor e revisar</a:t>
            </a:r>
            <a:endParaRPr b="0" lang="pt-BR" sz="1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40"/>
          <p:cNvSpPr/>
          <p:nvPr/>
        </p:nvSpPr>
        <p:spPr>
          <a:xfrm>
            <a:off x="8147160" y="4464000"/>
            <a:ext cx="5482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200" spc="-1" strike="noStrike">
                <a:solidFill>
                  <a:srgbClr val="99a2ae"/>
                </a:solidFill>
                <a:latin typeface="Inter"/>
                <a:ea typeface="+mn-ea"/>
              </a:rPr>
              <a:t>→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Rounded Rectangle 41"/>
          <p:cNvSpPr/>
          <p:nvPr/>
        </p:nvSpPr>
        <p:spPr>
          <a:xfrm>
            <a:off x="8522280" y="3867840"/>
            <a:ext cx="3584160" cy="14353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39" name="Rectangle 42"/>
          <p:cNvSpPr/>
          <p:nvPr/>
        </p:nvSpPr>
        <p:spPr>
          <a:xfrm>
            <a:off x="8522280" y="3867840"/>
            <a:ext cx="61920" cy="1435320"/>
          </a:xfrm>
          <a:prstGeom prst="rect">
            <a:avLst/>
          </a:prstGeom>
          <a:solidFill>
            <a:srgbClr val="5517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40" name="Rounded Rectangle 43"/>
          <p:cNvSpPr/>
          <p:nvPr/>
        </p:nvSpPr>
        <p:spPr>
          <a:xfrm>
            <a:off x="8686800" y="4050720"/>
            <a:ext cx="475200" cy="338040"/>
          </a:xfrm>
          <a:prstGeom prst="roundRect">
            <a:avLst>
              <a:gd name="adj" fmla="val 7500"/>
            </a:avLst>
          </a:prstGeom>
          <a:solidFill>
            <a:srgbClr val="f3e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41" name="TextBox 44"/>
          <p:cNvSpPr/>
          <p:nvPr/>
        </p:nvSpPr>
        <p:spPr>
          <a:xfrm>
            <a:off x="8714160" y="4108680"/>
            <a:ext cx="42012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100" spc="-1" strike="noStrike">
                <a:solidFill>
                  <a:srgbClr val="55179d"/>
                </a:solidFill>
                <a:latin typeface="Inter"/>
                <a:ea typeface="+mn-ea"/>
              </a:rPr>
              <a:t>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45"/>
          <p:cNvSpPr/>
          <p:nvPr/>
        </p:nvSpPr>
        <p:spPr>
          <a:xfrm>
            <a:off x="9244440" y="4100400"/>
            <a:ext cx="26240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750" spc="-1" strike="noStrike">
                <a:solidFill>
                  <a:srgbClr val="55179d"/>
                </a:solidFill>
                <a:latin typeface="Inter"/>
                <a:ea typeface="+mn-ea"/>
              </a:rPr>
              <a:t>MERGE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46"/>
          <p:cNvSpPr/>
          <p:nvPr/>
        </p:nvSpPr>
        <p:spPr>
          <a:xfrm>
            <a:off x="8714160" y="4682880"/>
            <a:ext cx="31726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540" spc="-1" strike="noStrike">
                <a:solidFill>
                  <a:srgbClr val="171b25"/>
                </a:solidFill>
                <a:latin typeface="Inter"/>
                <a:ea typeface="+mn-ea"/>
              </a:rPr>
              <a:t>Integrar ao projeto</a:t>
            </a:r>
            <a:endParaRPr b="0" lang="pt-BR" sz="1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47"/>
          <p:cNvSpPr/>
          <p:nvPr/>
        </p:nvSpPr>
        <p:spPr>
          <a:xfrm>
            <a:off x="1234440" y="5938200"/>
            <a:ext cx="969228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t-BR" sz="1270" spc="-1" strike="noStrike">
                <a:solidFill>
                  <a:srgbClr val="5c6576"/>
                </a:solidFill>
                <a:latin typeface="Inter"/>
                <a:ea typeface="+mn-ea"/>
              </a:rPr>
              <a:t>Uma Issue é opcional no GitHub, mas é uma ótima prática para organizar a atividade da equipe.</a:t>
            </a:r>
            <a:endParaRPr b="0" lang="pt-BR" sz="1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740160"/>
          </a:xfrm>
          <a:prstGeom prst="rect">
            <a:avLst/>
          </a:prstGeom>
          <a:ln w="0">
            <a:noFill/>
          </a:ln>
        </p:spPr>
      </p:pic>
      <p:sp>
        <p:nvSpPr>
          <p:cNvPr id="246" name="Rectangle 2"/>
          <p:cNvSpPr/>
          <p:nvPr/>
        </p:nvSpPr>
        <p:spPr>
          <a:xfrm>
            <a:off x="676800" y="932760"/>
            <a:ext cx="45360" cy="34704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47" name="TextBox 3"/>
          <p:cNvSpPr/>
          <p:nvPr/>
        </p:nvSpPr>
        <p:spPr>
          <a:xfrm>
            <a:off x="822960" y="941040"/>
            <a:ext cx="1069812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230" spc="-1" strike="noStrike">
                <a:solidFill>
                  <a:srgbClr val="55179d"/>
                </a:solidFill>
                <a:latin typeface="Inter"/>
                <a:ea typeface="+mn-ea"/>
              </a:rPr>
              <a:t>CONFLITOS DE MERGE: POR QUE ACONTECEM?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4"/>
          <p:cNvSpPr/>
          <p:nvPr/>
        </p:nvSpPr>
        <p:spPr>
          <a:xfrm>
            <a:off x="713160" y="1499760"/>
            <a:ext cx="10881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320" spc="-1" strike="noStrike">
                <a:solidFill>
                  <a:srgbClr val="5c6576"/>
                </a:solidFill>
                <a:latin typeface="Inter"/>
                <a:ea typeface="+mn-ea"/>
              </a:rPr>
              <a:t>Dois desenvolvedores podem alterar a mesma região de um arquivo de formas incompatíveis.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5"/>
          <p:cNvSpPr/>
          <p:nvPr/>
        </p:nvSpPr>
        <p:spPr>
          <a:xfrm>
            <a:off x="484560" y="6553440"/>
            <a:ext cx="457164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60" spc="-1" strike="noStrike">
                <a:solidFill>
                  <a:srgbClr val="99a2ae"/>
                </a:solidFill>
                <a:latin typeface="Inter"/>
                <a:ea typeface="+mn-ea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6"/>
          <p:cNvSpPr/>
          <p:nvPr/>
        </p:nvSpPr>
        <p:spPr>
          <a:xfrm>
            <a:off x="11466720" y="6552000"/>
            <a:ext cx="32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10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ounded Rectangle 7"/>
          <p:cNvSpPr/>
          <p:nvPr/>
        </p:nvSpPr>
        <p:spPr>
          <a:xfrm>
            <a:off x="749880" y="2020680"/>
            <a:ext cx="5166000" cy="324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52" name="Rectangle 8"/>
          <p:cNvSpPr/>
          <p:nvPr/>
        </p:nvSpPr>
        <p:spPr>
          <a:xfrm>
            <a:off x="749880" y="2020680"/>
            <a:ext cx="61920" cy="324576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53" name="Rounded Rectangle 9"/>
          <p:cNvSpPr/>
          <p:nvPr/>
        </p:nvSpPr>
        <p:spPr>
          <a:xfrm>
            <a:off x="6300360" y="2020680"/>
            <a:ext cx="5166000" cy="324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54" name="Rectangle 10"/>
          <p:cNvSpPr/>
          <p:nvPr/>
        </p:nvSpPr>
        <p:spPr>
          <a:xfrm>
            <a:off x="6300360" y="2020680"/>
            <a:ext cx="61920" cy="3245760"/>
          </a:xfrm>
          <a:prstGeom prst="rect">
            <a:avLst/>
          </a:prstGeom>
          <a:solidFill>
            <a:srgbClr val="5517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55" name="Rounded Rectangle 11"/>
          <p:cNvSpPr/>
          <p:nvPr/>
        </p:nvSpPr>
        <p:spPr>
          <a:xfrm>
            <a:off x="1014840" y="2277000"/>
            <a:ext cx="2111760" cy="338040"/>
          </a:xfrm>
          <a:prstGeom prst="roundRect">
            <a:avLst>
              <a:gd name="adj" fmla="val 7500"/>
            </a:avLst>
          </a:prstGeom>
          <a:solidFill>
            <a:srgbClr val="e7f9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56" name="TextBox 12"/>
          <p:cNvSpPr/>
          <p:nvPr/>
        </p:nvSpPr>
        <p:spPr>
          <a:xfrm>
            <a:off x="1042560" y="232704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200" spc="-1" strike="noStrike">
                <a:solidFill>
                  <a:srgbClr val="078f91"/>
                </a:solidFill>
                <a:latin typeface="Inter"/>
                <a:ea typeface="+mn-ea"/>
              </a:rPr>
              <a:t>branch: feature-a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ounded Rectangle 13"/>
          <p:cNvSpPr/>
          <p:nvPr/>
        </p:nvSpPr>
        <p:spPr>
          <a:xfrm>
            <a:off x="6565320" y="2277000"/>
            <a:ext cx="2111760" cy="338040"/>
          </a:xfrm>
          <a:prstGeom prst="roundRect">
            <a:avLst>
              <a:gd name="adj" fmla="val 7500"/>
            </a:avLst>
          </a:prstGeom>
          <a:solidFill>
            <a:srgbClr val="f3e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58" name="TextBox 14"/>
          <p:cNvSpPr/>
          <p:nvPr/>
        </p:nvSpPr>
        <p:spPr>
          <a:xfrm>
            <a:off x="6592680" y="232704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200" spc="-1" strike="noStrike">
                <a:solidFill>
                  <a:srgbClr val="55179d"/>
                </a:solidFill>
                <a:latin typeface="Inter"/>
                <a:ea typeface="+mn-ea"/>
              </a:rPr>
              <a:t>branch: feature-b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15"/>
          <p:cNvSpPr/>
          <p:nvPr/>
        </p:nvSpPr>
        <p:spPr>
          <a:xfrm>
            <a:off x="1024200" y="295812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171b25"/>
                </a:solidFill>
                <a:latin typeface="Inter"/>
                <a:ea typeface="+mn-ea"/>
              </a:rPr>
              <a:t>README.md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16"/>
          <p:cNvSpPr/>
          <p:nvPr/>
        </p:nvSpPr>
        <p:spPr>
          <a:xfrm>
            <a:off x="6574680" y="295812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171b25"/>
                </a:solidFill>
                <a:latin typeface="Inter"/>
                <a:ea typeface="+mn-ea"/>
              </a:rPr>
              <a:t>README.md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Rounded Rectangle 17"/>
          <p:cNvSpPr/>
          <p:nvPr/>
        </p:nvSpPr>
        <p:spPr>
          <a:xfrm>
            <a:off x="1005840" y="3493080"/>
            <a:ext cx="4516920" cy="813600"/>
          </a:xfrm>
          <a:prstGeom prst="roundRect">
            <a:avLst>
              <a:gd name="adj" fmla="val 7500"/>
            </a:avLst>
          </a:prstGeom>
          <a:solidFill>
            <a:srgbClr val="111d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62" name="Rounded Rectangle 18"/>
          <p:cNvSpPr/>
          <p:nvPr/>
        </p:nvSpPr>
        <p:spPr>
          <a:xfrm>
            <a:off x="6556320" y="3493080"/>
            <a:ext cx="4516920" cy="813600"/>
          </a:xfrm>
          <a:prstGeom prst="roundRect">
            <a:avLst>
              <a:gd name="adj" fmla="val 7500"/>
            </a:avLst>
          </a:prstGeom>
          <a:solidFill>
            <a:srgbClr val="111d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63" name="TextBox 19"/>
          <p:cNvSpPr/>
          <p:nvPr/>
        </p:nvSpPr>
        <p:spPr>
          <a:xfrm>
            <a:off x="1207080" y="3738240"/>
            <a:ext cx="4132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700" spc="-1" strike="noStrike">
                <a:solidFill>
                  <a:srgbClr val="e4f1ff"/>
                </a:solidFill>
                <a:latin typeface="Courier New"/>
                <a:ea typeface="+mn-ea"/>
              </a:rPr>
              <a:t>Título: Projeto de Dados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20"/>
          <p:cNvSpPr/>
          <p:nvPr/>
        </p:nvSpPr>
        <p:spPr>
          <a:xfrm>
            <a:off x="6729840" y="3739680"/>
            <a:ext cx="41691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679" spc="-1" strike="noStrike">
                <a:solidFill>
                  <a:srgbClr val="e4f1ff"/>
                </a:solidFill>
                <a:latin typeface="Courier New"/>
                <a:ea typeface="+mn-ea"/>
              </a:rPr>
              <a:t>Título: DataLab Analytics</a:t>
            </a:r>
            <a:endParaRPr b="0" lang="pt-BR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21"/>
          <p:cNvSpPr/>
          <p:nvPr/>
        </p:nvSpPr>
        <p:spPr>
          <a:xfrm>
            <a:off x="1024200" y="4617000"/>
            <a:ext cx="4480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50" spc="-1" strike="noStrike">
                <a:solidFill>
                  <a:srgbClr val="078f91"/>
                </a:solidFill>
                <a:latin typeface="Inter"/>
                <a:ea typeface="+mn-ea"/>
              </a:rPr>
              <a:t>Mudança feita pelo aluno A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Box 22"/>
          <p:cNvSpPr/>
          <p:nvPr/>
        </p:nvSpPr>
        <p:spPr>
          <a:xfrm>
            <a:off x="6574680" y="4617000"/>
            <a:ext cx="4480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50" spc="-1" strike="noStrike">
                <a:solidFill>
                  <a:srgbClr val="55179d"/>
                </a:solidFill>
                <a:latin typeface="Inter"/>
                <a:ea typeface="+mn-ea"/>
              </a:rPr>
              <a:t>Mudança feita pelo aluno B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Rounded Rectangle 23"/>
          <p:cNvSpPr/>
          <p:nvPr/>
        </p:nvSpPr>
        <p:spPr>
          <a:xfrm>
            <a:off x="1280160" y="5641920"/>
            <a:ext cx="9500400" cy="529920"/>
          </a:xfrm>
          <a:prstGeom prst="roundRect">
            <a:avLst>
              <a:gd name="adj" fmla="val 7500"/>
            </a:avLst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68" name="TextBox 24"/>
          <p:cNvSpPr/>
          <p:nvPr/>
        </p:nvSpPr>
        <p:spPr>
          <a:xfrm>
            <a:off x="1426320" y="5766840"/>
            <a:ext cx="922608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480" spc="-1" strike="noStrike">
                <a:solidFill>
                  <a:srgbClr val="dd6262"/>
                </a:solidFill>
                <a:latin typeface="Inter"/>
                <a:ea typeface="+mn-ea"/>
              </a:rPr>
              <a:t>O Git não escolhe uma das versões sozinho: é necessário resolver o conflito.</a:t>
            </a:r>
            <a:endParaRPr b="0" lang="pt-BR" sz="14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740160"/>
          </a:xfrm>
          <a:prstGeom prst="rect">
            <a:avLst/>
          </a:prstGeom>
          <a:ln w="0">
            <a:noFill/>
          </a:ln>
        </p:spPr>
      </p:pic>
      <p:sp>
        <p:nvSpPr>
          <p:cNvPr id="270" name="Rectangle 2"/>
          <p:cNvSpPr/>
          <p:nvPr/>
        </p:nvSpPr>
        <p:spPr>
          <a:xfrm>
            <a:off x="676800" y="932760"/>
            <a:ext cx="45360" cy="34704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71" name="TextBox 3"/>
          <p:cNvSpPr/>
          <p:nvPr/>
        </p:nvSpPr>
        <p:spPr>
          <a:xfrm>
            <a:off x="822960" y="941040"/>
            <a:ext cx="1069812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230" spc="-1" strike="noStrike">
                <a:solidFill>
                  <a:srgbClr val="55179d"/>
                </a:solidFill>
                <a:latin typeface="Inter"/>
                <a:ea typeface="+mn-ea"/>
              </a:rPr>
              <a:t>RESOLVENDO UM CONFLITO DE MERGE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Box 4"/>
          <p:cNvSpPr/>
          <p:nvPr/>
        </p:nvSpPr>
        <p:spPr>
          <a:xfrm>
            <a:off x="713160" y="1499760"/>
            <a:ext cx="10881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320" spc="-1" strike="noStrike">
                <a:solidFill>
                  <a:srgbClr val="5c6576"/>
                </a:solidFill>
                <a:latin typeface="Inter"/>
                <a:ea typeface="+mn-ea"/>
              </a:rPr>
              <a:t>O Git marca o trecho divergente para que a equipe decida qual será o conteúdo final.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5"/>
          <p:cNvSpPr/>
          <p:nvPr/>
        </p:nvSpPr>
        <p:spPr>
          <a:xfrm>
            <a:off x="484560" y="6553440"/>
            <a:ext cx="457164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60" spc="-1" strike="noStrike">
                <a:solidFill>
                  <a:srgbClr val="99a2ae"/>
                </a:solidFill>
                <a:latin typeface="Inter"/>
                <a:ea typeface="+mn-ea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6"/>
          <p:cNvSpPr/>
          <p:nvPr/>
        </p:nvSpPr>
        <p:spPr>
          <a:xfrm>
            <a:off x="11466720" y="6552000"/>
            <a:ext cx="32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11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Rounded Rectangle 7"/>
          <p:cNvSpPr/>
          <p:nvPr/>
        </p:nvSpPr>
        <p:spPr>
          <a:xfrm>
            <a:off x="749880" y="1965960"/>
            <a:ext cx="6583320" cy="3419640"/>
          </a:xfrm>
          <a:prstGeom prst="roundRect">
            <a:avLst>
              <a:gd name="adj" fmla="val 7500"/>
            </a:avLst>
          </a:prstGeom>
          <a:solidFill>
            <a:srgbClr val="111d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76" name="TextBox 8"/>
          <p:cNvSpPr/>
          <p:nvPr/>
        </p:nvSpPr>
        <p:spPr>
          <a:xfrm>
            <a:off x="1060560" y="2257920"/>
            <a:ext cx="59432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750" spc="-1" strike="noStrike">
                <a:solidFill>
                  <a:srgbClr val="e4f1ff"/>
                </a:solidFill>
                <a:latin typeface="Inter"/>
                <a:ea typeface="+mn-ea"/>
              </a:rPr>
              <a:t>README.md · marcações do Git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9"/>
          <p:cNvSpPr/>
          <p:nvPr/>
        </p:nvSpPr>
        <p:spPr>
          <a:xfrm>
            <a:off x="1069920" y="2770560"/>
            <a:ext cx="6007320" cy="13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729" spc="-1" strike="noStrike">
                <a:solidFill>
                  <a:srgbClr val="e4f1ff"/>
                </a:solidFill>
                <a:latin typeface="Courier New"/>
                <a:ea typeface="+mn-ea"/>
              </a:rPr>
              <a:t>&lt;&lt;&lt;&lt;&lt;&lt;&lt; HEAD</a:t>
            </a:r>
            <a:endParaRPr b="0" lang="pt-BR" sz="172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729" spc="-1" strike="noStrike">
                <a:solidFill>
                  <a:srgbClr val="e4f1ff"/>
                </a:solidFill>
                <a:latin typeface="Courier New"/>
                <a:ea typeface="+mn-ea"/>
              </a:rPr>
              <a:t>Título: Projeto de Dados</a:t>
            </a:r>
            <a:endParaRPr b="0" lang="pt-BR" sz="172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729" spc="-1" strike="noStrike">
                <a:solidFill>
                  <a:srgbClr val="e4f1ff"/>
                </a:solidFill>
                <a:latin typeface="Courier New"/>
                <a:ea typeface="+mn-ea"/>
              </a:rPr>
              <a:t>=======</a:t>
            </a:r>
            <a:endParaRPr b="0" lang="pt-BR" sz="172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729" spc="-1" strike="noStrike">
                <a:solidFill>
                  <a:srgbClr val="e4f1ff"/>
                </a:solidFill>
                <a:latin typeface="Courier New"/>
                <a:ea typeface="+mn-ea"/>
              </a:rPr>
              <a:t>Título: DataLab Analytics</a:t>
            </a:r>
            <a:endParaRPr b="0" lang="pt-BR" sz="172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729" spc="-1" strike="noStrike">
                <a:solidFill>
                  <a:srgbClr val="e4f1ff"/>
                </a:solidFill>
                <a:latin typeface="Courier New"/>
                <a:ea typeface="+mn-ea"/>
              </a:rPr>
              <a:t>&gt;&gt;&gt;&gt;&gt;&gt;&gt; feature-b</a:t>
            </a:r>
            <a:endParaRPr b="0" lang="pt-BR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Rounded Rectangle 10"/>
          <p:cNvSpPr/>
          <p:nvPr/>
        </p:nvSpPr>
        <p:spPr>
          <a:xfrm>
            <a:off x="7562160" y="1965960"/>
            <a:ext cx="3922560" cy="34196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79" name="Rectangle 11"/>
          <p:cNvSpPr/>
          <p:nvPr/>
        </p:nvSpPr>
        <p:spPr>
          <a:xfrm>
            <a:off x="7562160" y="1965960"/>
            <a:ext cx="61920" cy="341964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80" name="TextBox 12"/>
          <p:cNvSpPr/>
          <p:nvPr/>
        </p:nvSpPr>
        <p:spPr>
          <a:xfrm>
            <a:off x="7845480" y="2286000"/>
            <a:ext cx="3456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55179d"/>
                </a:solidFill>
                <a:latin typeface="Inter"/>
                <a:ea typeface="+mn-ea"/>
              </a:rPr>
              <a:t>Como resolver?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Box 13"/>
          <p:cNvSpPr/>
          <p:nvPr/>
        </p:nvSpPr>
        <p:spPr>
          <a:xfrm>
            <a:off x="7845480" y="2788920"/>
            <a:ext cx="3364560" cy="12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570" spc="-1" strike="noStrike">
                <a:solidFill>
                  <a:srgbClr val="171b25"/>
                </a:solidFill>
                <a:latin typeface="Inter"/>
                <a:ea typeface="+mn-ea"/>
              </a:rPr>
              <a:t>1. Abra o arquivo em conflito</a:t>
            </a:r>
            <a:endParaRPr b="0" lang="pt-BR" sz="15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570" spc="-1" strike="noStrike">
                <a:solidFill>
                  <a:srgbClr val="171b25"/>
                </a:solidFill>
                <a:latin typeface="Inter"/>
                <a:ea typeface="+mn-ea"/>
              </a:rPr>
              <a:t>2. Edite o conteúdo final</a:t>
            </a:r>
            <a:endParaRPr b="0" lang="pt-BR" sz="15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570" spc="-1" strike="noStrike">
                <a:solidFill>
                  <a:srgbClr val="171b25"/>
                </a:solidFill>
                <a:latin typeface="Inter"/>
                <a:ea typeface="+mn-ea"/>
              </a:rPr>
              <a:t>3. Remova as marcações</a:t>
            </a:r>
            <a:endParaRPr b="0" lang="pt-BR" sz="15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570" spc="-1" strike="noStrike">
                <a:solidFill>
                  <a:srgbClr val="171b25"/>
                </a:solidFill>
                <a:latin typeface="Inter"/>
                <a:ea typeface="+mn-ea"/>
              </a:rPr>
              <a:t>4. Use git add</a:t>
            </a:r>
            <a:endParaRPr b="0" lang="pt-BR" sz="15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570" spc="-1" strike="noStrike">
                <a:solidFill>
                  <a:srgbClr val="171b25"/>
                </a:solidFill>
                <a:latin typeface="Inter"/>
                <a:ea typeface="+mn-ea"/>
              </a:rPr>
              <a:t>5. Finalize com commit</a:t>
            </a:r>
            <a:endParaRPr b="0" lang="pt-BR" sz="1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Rounded Rectangle 14"/>
          <p:cNvSpPr/>
          <p:nvPr/>
        </p:nvSpPr>
        <p:spPr>
          <a:xfrm>
            <a:off x="1307520" y="5733360"/>
            <a:ext cx="9463680" cy="475200"/>
          </a:xfrm>
          <a:prstGeom prst="roundRect">
            <a:avLst>
              <a:gd name="adj" fmla="val 7500"/>
            </a:avLst>
          </a:prstGeom>
          <a:solidFill>
            <a:srgbClr val="f3e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83" name="TextBox 15"/>
          <p:cNvSpPr/>
          <p:nvPr/>
        </p:nvSpPr>
        <p:spPr>
          <a:xfrm>
            <a:off x="1426320" y="5841360"/>
            <a:ext cx="924408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40" spc="-1" strike="noStrike">
                <a:solidFill>
                  <a:srgbClr val="55179d"/>
                </a:solidFill>
                <a:latin typeface="Inter"/>
                <a:ea typeface="+mn-ea"/>
              </a:rPr>
              <a:t>Verifique os conflitos com git status; se estiver mesclando, use git merge --continue.</a:t>
            </a:r>
            <a:endParaRPr b="0" lang="pt-BR" sz="13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740160"/>
          </a:xfrm>
          <a:prstGeom prst="rect">
            <a:avLst/>
          </a:prstGeom>
          <a:ln w="0">
            <a:noFill/>
          </a:ln>
        </p:spPr>
      </p:pic>
      <p:sp>
        <p:nvSpPr>
          <p:cNvPr id="285" name="Rectangle 2"/>
          <p:cNvSpPr/>
          <p:nvPr/>
        </p:nvSpPr>
        <p:spPr>
          <a:xfrm>
            <a:off x="676800" y="932760"/>
            <a:ext cx="45360" cy="34704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86" name="TextBox 3"/>
          <p:cNvSpPr/>
          <p:nvPr/>
        </p:nvSpPr>
        <p:spPr>
          <a:xfrm>
            <a:off x="822960" y="941040"/>
            <a:ext cx="1069812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230" spc="-1" strike="noStrike">
                <a:solidFill>
                  <a:srgbClr val="55179d"/>
                </a:solidFill>
                <a:latin typeface="Inter"/>
                <a:ea typeface="+mn-ea"/>
              </a:rPr>
              <a:t>GITIGNORE: O QUE NÃO DEVE SER VERSIONADO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4"/>
          <p:cNvSpPr/>
          <p:nvPr/>
        </p:nvSpPr>
        <p:spPr>
          <a:xfrm>
            <a:off x="713160" y="1499760"/>
            <a:ext cx="10881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320" spc="-1" strike="noStrike">
                <a:solidFill>
                  <a:srgbClr val="5c6576"/>
                </a:solidFill>
                <a:latin typeface="Inter"/>
                <a:ea typeface="+mn-ea"/>
              </a:rPr>
              <a:t>O arquivo .gitignore lista padrões de arquivos que o Git deve ignorar quando ainda não são rastreados.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5"/>
          <p:cNvSpPr/>
          <p:nvPr/>
        </p:nvSpPr>
        <p:spPr>
          <a:xfrm>
            <a:off x="484560" y="6553440"/>
            <a:ext cx="457164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60" spc="-1" strike="noStrike">
                <a:solidFill>
                  <a:srgbClr val="99a2ae"/>
                </a:solidFill>
                <a:latin typeface="Inter"/>
                <a:ea typeface="+mn-ea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Box 6"/>
          <p:cNvSpPr/>
          <p:nvPr/>
        </p:nvSpPr>
        <p:spPr>
          <a:xfrm>
            <a:off x="11466720" y="6552000"/>
            <a:ext cx="32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12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Rounded Rectangle 7"/>
          <p:cNvSpPr/>
          <p:nvPr/>
        </p:nvSpPr>
        <p:spPr>
          <a:xfrm>
            <a:off x="749880" y="1956960"/>
            <a:ext cx="5202720" cy="3382920"/>
          </a:xfrm>
          <a:prstGeom prst="roundRect">
            <a:avLst>
              <a:gd name="adj" fmla="val 7500"/>
            </a:avLst>
          </a:prstGeom>
          <a:solidFill>
            <a:srgbClr val="111d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91" name="TextBox 8"/>
          <p:cNvSpPr/>
          <p:nvPr/>
        </p:nvSpPr>
        <p:spPr>
          <a:xfrm>
            <a:off x="1078920" y="2266200"/>
            <a:ext cx="457164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000" spc="-1" strike="noStrike">
                <a:solidFill>
                  <a:srgbClr val="e4f1ff"/>
                </a:solidFill>
                <a:latin typeface="Inter"/>
                <a:ea typeface="+mn-ea"/>
              </a:rPr>
              <a:t>.gitignore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Box 9"/>
          <p:cNvSpPr/>
          <p:nvPr/>
        </p:nvSpPr>
        <p:spPr>
          <a:xfrm>
            <a:off x="1097280" y="2880360"/>
            <a:ext cx="4343040" cy="16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700" spc="-1" strike="noStrike">
                <a:solidFill>
                  <a:srgbClr val="e4f1ff"/>
                </a:solidFill>
                <a:latin typeface="Courier New"/>
                <a:ea typeface="+mn-ea"/>
              </a:rPr>
              <a:t># Segredos e configurações locais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700" spc="-1" strike="noStrike">
                <a:solidFill>
                  <a:srgbClr val="e4f1ff"/>
                </a:solidFill>
                <a:latin typeface="Courier New"/>
                <a:ea typeface="+mn-ea"/>
              </a:rPr>
              <a:t>.env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700" spc="-1" strike="noStrike">
                <a:solidFill>
                  <a:srgbClr val="e4f1ff"/>
                </a:solidFill>
                <a:latin typeface="Courier New"/>
                <a:ea typeface="+mn-ea"/>
              </a:rPr>
              <a:t># Arquivos temporários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700" spc="-1" strike="noStrike">
                <a:solidFill>
                  <a:srgbClr val="e4f1ff"/>
                </a:solidFill>
                <a:latin typeface="Courier New"/>
                <a:ea typeface="+mn-ea"/>
              </a:rPr>
              <a:t>__pycache__/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700" spc="-1" strike="noStrike">
                <a:solidFill>
                  <a:srgbClr val="e4f1ff"/>
                </a:solidFill>
                <a:latin typeface="Courier New"/>
                <a:ea typeface="+mn-ea"/>
              </a:rPr>
              <a:t>*.log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Rounded Rectangle 10"/>
          <p:cNvSpPr/>
          <p:nvPr/>
        </p:nvSpPr>
        <p:spPr>
          <a:xfrm>
            <a:off x="6199560" y="1956960"/>
            <a:ext cx="5220720" cy="33829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94" name="Rectangle 11"/>
          <p:cNvSpPr/>
          <p:nvPr/>
        </p:nvSpPr>
        <p:spPr>
          <a:xfrm>
            <a:off x="6199560" y="1956960"/>
            <a:ext cx="61920" cy="338292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95" name="TextBox 12"/>
          <p:cNvSpPr/>
          <p:nvPr/>
        </p:nvSpPr>
        <p:spPr>
          <a:xfrm>
            <a:off x="6501240" y="2305800"/>
            <a:ext cx="462636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900" spc="-1" strike="noStrike">
                <a:solidFill>
                  <a:srgbClr val="55179d"/>
                </a:solidFill>
                <a:latin typeface="Inter"/>
                <a:ea typeface="+mn-ea"/>
              </a:rPr>
              <a:t>O que lembrar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13"/>
          <p:cNvSpPr/>
          <p:nvPr/>
        </p:nvSpPr>
        <p:spPr>
          <a:xfrm>
            <a:off x="6501240" y="2871360"/>
            <a:ext cx="4544280" cy="10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580" spc="-1" strike="noStrike">
                <a:solidFill>
                  <a:srgbClr val="171b25"/>
                </a:solidFill>
                <a:latin typeface="Inter"/>
                <a:ea typeface="+mn-ea"/>
              </a:rPr>
              <a:t>• </a:t>
            </a:r>
            <a:r>
              <a:rPr b="0" lang="pt-BR" sz="1580" spc="-1" strike="noStrike">
                <a:solidFill>
                  <a:srgbClr val="171b25"/>
                </a:solidFill>
                <a:latin typeface="Inter"/>
                <a:ea typeface="+mn-ea"/>
              </a:rPr>
              <a:t>Evita adicionar arquivos indesejados</a:t>
            </a:r>
            <a:endParaRPr b="0" lang="pt-BR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580" spc="-1" strike="noStrike">
                <a:solidFill>
                  <a:srgbClr val="171b25"/>
                </a:solidFill>
                <a:latin typeface="Inter"/>
                <a:ea typeface="+mn-ea"/>
              </a:rPr>
              <a:t>• </a:t>
            </a:r>
            <a:r>
              <a:rPr b="0" lang="pt-BR" sz="1580" spc="-1" strike="noStrike">
                <a:solidFill>
                  <a:srgbClr val="171b25"/>
                </a:solidFill>
                <a:latin typeface="Inter"/>
                <a:ea typeface="+mn-ea"/>
              </a:rPr>
              <a:t>Não remove arquivos já rastreados</a:t>
            </a:r>
            <a:endParaRPr b="0" lang="pt-BR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580" spc="-1" strike="noStrike">
                <a:solidFill>
                  <a:srgbClr val="171b25"/>
                </a:solidFill>
                <a:latin typeface="Inter"/>
                <a:ea typeface="+mn-ea"/>
              </a:rPr>
              <a:t>• </a:t>
            </a:r>
            <a:r>
              <a:rPr b="0" lang="pt-BR" sz="1580" spc="-1" strike="noStrike">
                <a:solidFill>
                  <a:srgbClr val="171b25"/>
                </a:solidFill>
                <a:latin typeface="Inter"/>
                <a:ea typeface="+mn-ea"/>
              </a:rPr>
              <a:t>Para parar de rastrear: git rm --cached arquivo</a:t>
            </a:r>
            <a:endParaRPr b="0" lang="pt-BR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580" spc="-1" strike="noStrike">
                <a:solidFill>
                  <a:srgbClr val="171b25"/>
                </a:solidFill>
                <a:latin typeface="Inter"/>
                <a:ea typeface="+mn-ea"/>
              </a:rPr>
              <a:t>• </a:t>
            </a:r>
            <a:r>
              <a:rPr b="0" lang="pt-BR" sz="1580" spc="-1" strike="noStrike">
                <a:solidFill>
                  <a:srgbClr val="171b25"/>
                </a:solidFill>
                <a:latin typeface="Inter"/>
                <a:ea typeface="+mn-ea"/>
              </a:rPr>
              <a:t>Faça commit do próprio .gitignore</a:t>
            </a:r>
            <a:endParaRPr b="0" lang="pt-BR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ounded Rectangle 14"/>
          <p:cNvSpPr/>
          <p:nvPr/>
        </p:nvSpPr>
        <p:spPr>
          <a:xfrm>
            <a:off x="1298520" y="5733360"/>
            <a:ext cx="9436320" cy="493560"/>
          </a:xfrm>
          <a:prstGeom prst="roundRect">
            <a:avLst>
              <a:gd name="adj" fmla="val 7500"/>
            </a:avLst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98" name="TextBox 15"/>
          <p:cNvSpPr/>
          <p:nvPr/>
        </p:nvSpPr>
        <p:spPr>
          <a:xfrm>
            <a:off x="1408320" y="5836680"/>
            <a:ext cx="92077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410" spc="-1" strike="noStrike">
                <a:solidFill>
                  <a:srgbClr val="dd6262"/>
                </a:solidFill>
                <a:latin typeface="Inter"/>
                <a:ea typeface="+mn-ea"/>
              </a:rPr>
              <a:t>Nunca adicione tokens, senhas ou credenciais ao repositório.</a:t>
            </a:r>
            <a:endParaRPr b="0" lang="pt-BR" sz="141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300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REMOVENDO ARQUIVOS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13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4"/>
          <p:cNvSpPr/>
          <p:nvPr/>
        </p:nvSpPr>
        <p:spPr>
          <a:xfrm>
            <a:off x="941760" y="1700640"/>
            <a:ext cx="10295640" cy="694440"/>
          </a:xfrm>
          <a:prstGeom prst="roundRect">
            <a:avLst>
              <a:gd name="adj" fmla="val 14474"/>
            </a:avLst>
          </a:prstGeom>
          <a:solidFill>
            <a:srgbClr val="0e192a"/>
          </a:solidFill>
          <a:ln w="12700">
            <a:solidFill>
              <a:srgbClr val="0e192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05" name="Text 5"/>
          <p:cNvSpPr/>
          <p:nvPr/>
        </p:nvSpPr>
        <p:spPr>
          <a:xfrm>
            <a:off x="1197720" y="1883520"/>
            <a:ext cx="982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4f1ff"/>
                </a:solidFill>
                <a:latin typeface="Courier New"/>
                <a:ea typeface="Courier New"/>
              </a:rPr>
              <a:t>git rm nome_do_arquivo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804600" y="2770560"/>
            <a:ext cx="10515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55179d"/>
                </a:solidFill>
                <a:latin typeface="Inter"/>
                <a:ea typeface="Inter"/>
              </a:rPr>
              <a:t>Como restaurar um arquivo removido?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7"/>
          <p:cNvSpPr/>
          <p:nvPr/>
        </p:nvSpPr>
        <p:spPr>
          <a:xfrm>
            <a:off x="813960" y="3337560"/>
            <a:ext cx="507456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08" name="Shape 8"/>
          <p:cNvSpPr/>
          <p:nvPr/>
        </p:nvSpPr>
        <p:spPr>
          <a:xfrm>
            <a:off x="813960" y="3337560"/>
            <a:ext cx="60120" cy="223992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09" name="Text 9"/>
          <p:cNvSpPr/>
          <p:nvPr/>
        </p:nvSpPr>
        <p:spPr>
          <a:xfrm>
            <a:off x="1042560" y="3502080"/>
            <a:ext cx="463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dbab5"/>
                </a:solidFill>
                <a:latin typeface="Inter"/>
                <a:ea typeface="Inter"/>
              </a:rPr>
              <a:t>Já possui commit anterior?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10"/>
          <p:cNvSpPr/>
          <p:nvPr/>
        </p:nvSpPr>
        <p:spPr>
          <a:xfrm>
            <a:off x="1042560" y="4014360"/>
            <a:ext cx="461736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71b25"/>
                </a:solidFill>
                <a:latin typeface="Inter"/>
                <a:ea typeface="Inter"/>
              </a:rPr>
              <a:t>É possível recuperar uma versão registrada no histórico.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71b25"/>
                </a:solidFill>
                <a:latin typeface="Inter"/>
                <a:ea typeface="Inter"/>
              </a:rPr>
              <a:t>Exemplo: git restore --source=HEAD --staged --worktree -- arquivo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1"/>
          <p:cNvSpPr/>
          <p:nvPr/>
        </p:nvSpPr>
        <p:spPr>
          <a:xfrm>
            <a:off x="6190560" y="3337560"/>
            <a:ext cx="508356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12" name="Shape 12"/>
          <p:cNvSpPr/>
          <p:nvPr/>
        </p:nvSpPr>
        <p:spPr>
          <a:xfrm>
            <a:off x="6190560" y="3337560"/>
            <a:ext cx="60120" cy="2239920"/>
          </a:xfrm>
          <a:prstGeom prst="rect">
            <a:avLst/>
          </a:prstGeom>
          <a:solidFill>
            <a:srgbClr val="55179d"/>
          </a:solidFill>
          <a:ln w="12700">
            <a:solidFill>
              <a:srgbClr val="55179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13" name="Text 13"/>
          <p:cNvSpPr/>
          <p:nvPr/>
        </p:nvSpPr>
        <p:spPr>
          <a:xfrm>
            <a:off x="6419160" y="3502080"/>
            <a:ext cx="4644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55179d"/>
                </a:solidFill>
                <a:latin typeface="Inter"/>
                <a:ea typeface="Inter"/>
              </a:rPr>
              <a:t>Nunca foi commitado?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14"/>
          <p:cNvSpPr/>
          <p:nvPr/>
        </p:nvSpPr>
        <p:spPr>
          <a:xfrm>
            <a:off x="6419160" y="4014360"/>
            <a:ext cx="462636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30" spc="-1" strike="noStrike">
                <a:solidFill>
                  <a:srgbClr val="171b25"/>
                </a:solidFill>
                <a:latin typeface="Inter"/>
                <a:ea typeface="Inter"/>
              </a:rPr>
              <a:t>Sem uma versão no histórico, a recuperação não é garantida. O Git só pode restaurar dados que ainda estejam disponíveis em algum estado ou objeto.</a:t>
            </a:r>
            <a:endParaRPr b="0" lang="pt-BR" sz="15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15"/>
          <p:cNvSpPr/>
          <p:nvPr/>
        </p:nvSpPr>
        <p:spPr>
          <a:xfrm>
            <a:off x="1042560" y="5952600"/>
            <a:ext cx="99482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576"/>
                </a:solidFill>
                <a:latin typeface="Inter"/>
                <a:ea typeface="Inter"/>
              </a:rPr>
              <a:t>Atenção: os comandos exatos dependem de o arquivo ter sido alterado, preparado ou removido.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740160"/>
          </a:xfrm>
          <a:prstGeom prst="rect">
            <a:avLst/>
          </a:prstGeom>
          <a:ln w="0">
            <a:noFill/>
          </a:ln>
        </p:spPr>
      </p:pic>
      <p:sp>
        <p:nvSpPr>
          <p:cNvPr id="317" name="Rectangle 2"/>
          <p:cNvSpPr/>
          <p:nvPr/>
        </p:nvSpPr>
        <p:spPr>
          <a:xfrm>
            <a:off x="676800" y="932760"/>
            <a:ext cx="45360" cy="34704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18" name="TextBox 3"/>
          <p:cNvSpPr/>
          <p:nvPr/>
        </p:nvSpPr>
        <p:spPr>
          <a:xfrm>
            <a:off x="822960" y="941040"/>
            <a:ext cx="1069812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230" spc="-1" strike="noStrike">
                <a:solidFill>
                  <a:srgbClr val="55179d"/>
                </a:solidFill>
                <a:latin typeface="Inter"/>
                <a:ea typeface="+mn-ea"/>
              </a:rPr>
              <a:t>E SE UM ARQUIVO SENSÍVEL ENTROU NO GIT?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4"/>
          <p:cNvSpPr/>
          <p:nvPr/>
        </p:nvSpPr>
        <p:spPr>
          <a:xfrm>
            <a:off x="713160" y="1499760"/>
            <a:ext cx="10881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320" spc="-1" strike="noStrike">
                <a:solidFill>
                  <a:srgbClr val="5c6576"/>
                </a:solidFill>
                <a:latin typeface="Inter"/>
                <a:ea typeface="+mn-ea"/>
              </a:rPr>
              <a:t>O procedimento depende de até onde a alteração chegou: stage, histórico local ou repositório remoto.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Box 5"/>
          <p:cNvSpPr/>
          <p:nvPr/>
        </p:nvSpPr>
        <p:spPr>
          <a:xfrm>
            <a:off x="484560" y="6553440"/>
            <a:ext cx="457164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60" spc="-1" strike="noStrike">
                <a:solidFill>
                  <a:srgbClr val="99a2ae"/>
                </a:solidFill>
                <a:latin typeface="Inter"/>
                <a:ea typeface="+mn-ea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Box 6"/>
          <p:cNvSpPr/>
          <p:nvPr/>
        </p:nvSpPr>
        <p:spPr>
          <a:xfrm>
            <a:off x="11466720" y="6552000"/>
            <a:ext cx="32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14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Rounded Rectangle 7"/>
          <p:cNvSpPr/>
          <p:nvPr/>
        </p:nvSpPr>
        <p:spPr>
          <a:xfrm>
            <a:off x="758880" y="2048400"/>
            <a:ext cx="3593160" cy="31453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23" name="Rectangle 8"/>
          <p:cNvSpPr/>
          <p:nvPr/>
        </p:nvSpPr>
        <p:spPr>
          <a:xfrm>
            <a:off x="758880" y="2048400"/>
            <a:ext cx="61920" cy="314532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24" name="TextBox 9"/>
          <p:cNvSpPr/>
          <p:nvPr/>
        </p:nvSpPr>
        <p:spPr>
          <a:xfrm>
            <a:off x="960120" y="2370960"/>
            <a:ext cx="3191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700" spc="-1" strike="noStrike">
                <a:solidFill>
                  <a:srgbClr val="0dbab5"/>
                </a:solidFill>
                <a:latin typeface="Inter"/>
                <a:ea typeface="+mn-ea"/>
              </a:rPr>
              <a:t>APENAS GIT ADD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Box 10"/>
          <p:cNvSpPr/>
          <p:nvPr/>
        </p:nvSpPr>
        <p:spPr>
          <a:xfrm>
            <a:off x="960120" y="2950200"/>
            <a:ext cx="31726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20" spc="-1" strike="noStrike">
                <a:solidFill>
                  <a:srgbClr val="5c6576"/>
                </a:solidFill>
                <a:latin typeface="Inter"/>
                <a:ea typeface="+mn-ea"/>
              </a:rPr>
              <a:t>Antes do commit</a:t>
            </a:r>
            <a:endParaRPr b="0" lang="pt-BR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11"/>
          <p:cNvSpPr/>
          <p:nvPr/>
        </p:nvSpPr>
        <p:spPr>
          <a:xfrm>
            <a:off x="960120" y="3557160"/>
            <a:ext cx="314532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500" spc="-1" strike="noStrike">
                <a:solidFill>
                  <a:srgbClr val="171b25"/>
                </a:solidFill>
                <a:latin typeface="Inter"/>
                <a:ea typeface="+mn-ea"/>
              </a:rPr>
              <a:t>git restore --staged .env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500" spc="-1" strike="noStrike">
                <a:solidFill>
                  <a:srgbClr val="171b25"/>
                </a:solidFill>
                <a:latin typeface="Inter"/>
                <a:ea typeface="+mn-ea"/>
              </a:rPr>
              <a:t>Adicione .env ao .gitignore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Rounded Rectangle 12"/>
          <p:cNvSpPr/>
          <p:nvPr/>
        </p:nvSpPr>
        <p:spPr>
          <a:xfrm>
            <a:off x="4645080" y="2048400"/>
            <a:ext cx="3593160" cy="31453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28" name="Rectangle 13"/>
          <p:cNvSpPr/>
          <p:nvPr/>
        </p:nvSpPr>
        <p:spPr>
          <a:xfrm>
            <a:off x="4645080" y="2048400"/>
            <a:ext cx="61920" cy="3145320"/>
          </a:xfrm>
          <a:prstGeom prst="rect">
            <a:avLst/>
          </a:prstGeom>
          <a:solidFill>
            <a:srgbClr val="5517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29" name="TextBox 14"/>
          <p:cNvSpPr/>
          <p:nvPr/>
        </p:nvSpPr>
        <p:spPr>
          <a:xfrm>
            <a:off x="4846320" y="2370960"/>
            <a:ext cx="3191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700" spc="-1" strike="noStrike">
                <a:solidFill>
                  <a:srgbClr val="55179d"/>
                </a:solidFill>
                <a:latin typeface="Inter"/>
                <a:ea typeface="+mn-ea"/>
              </a:rPr>
              <a:t>JÁ FEZ COMMIT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Box 15"/>
          <p:cNvSpPr/>
          <p:nvPr/>
        </p:nvSpPr>
        <p:spPr>
          <a:xfrm>
            <a:off x="4846320" y="2950200"/>
            <a:ext cx="31726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20" spc="-1" strike="noStrike">
                <a:solidFill>
                  <a:srgbClr val="5c6576"/>
                </a:solidFill>
                <a:latin typeface="Inter"/>
                <a:ea typeface="+mn-ea"/>
              </a:rPr>
              <a:t>No histórico local</a:t>
            </a:r>
            <a:endParaRPr b="0" lang="pt-BR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16"/>
          <p:cNvSpPr/>
          <p:nvPr/>
        </p:nvSpPr>
        <p:spPr>
          <a:xfrm>
            <a:off x="4846320" y="3557160"/>
            <a:ext cx="314532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500" spc="-1" strike="noStrike">
                <a:solidFill>
                  <a:srgbClr val="171b25"/>
                </a:solidFill>
                <a:latin typeface="Inter"/>
                <a:ea typeface="+mn-ea"/>
              </a:rPr>
              <a:t>Pare de rastrear com git rm --cached .env e registre a correção.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Rounded Rectangle 17"/>
          <p:cNvSpPr/>
          <p:nvPr/>
        </p:nvSpPr>
        <p:spPr>
          <a:xfrm>
            <a:off x="8531280" y="2048400"/>
            <a:ext cx="3593160" cy="31453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33" name="Rectangle 18"/>
          <p:cNvSpPr/>
          <p:nvPr/>
        </p:nvSpPr>
        <p:spPr>
          <a:xfrm>
            <a:off x="8531280" y="2048400"/>
            <a:ext cx="61920" cy="3145320"/>
          </a:xfrm>
          <a:prstGeom prst="rect">
            <a:avLst/>
          </a:prstGeom>
          <a:solidFill>
            <a:srgbClr val="dd62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34" name="TextBox 19"/>
          <p:cNvSpPr/>
          <p:nvPr/>
        </p:nvSpPr>
        <p:spPr>
          <a:xfrm>
            <a:off x="8732520" y="2370960"/>
            <a:ext cx="3191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700" spc="-1" strike="noStrike">
                <a:solidFill>
                  <a:srgbClr val="dd6262"/>
                </a:solidFill>
                <a:latin typeface="Inter"/>
                <a:ea typeface="+mn-ea"/>
              </a:rPr>
              <a:t>JÁ FEZ PUSH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20"/>
          <p:cNvSpPr/>
          <p:nvPr/>
        </p:nvSpPr>
        <p:spPr>
          <a:xfrm>
            <a:off x="8732520" y="2950200"/>
            <a:ext cx="31726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20" spc="-1" strike="noStrike">
                <a:solidFill>
                  <a:srgbClr val="5c6576"/>
                </a:solidFill>
                <a:latin typeface="Inter"/>
                <a:ea typeface="+mn-ea"/>
              </a:rPr>
              <a:t>Publicado no remoto</a:t>
            </a:r>
            <a:endParaRPr b="0" lang="pt-BR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21"/>
          <p:cNvSpPr/>
          <p:nvPr/>
        </p:nvSpPr>
        <p:spPr>
          <a:xfrm>
            <a:off x="8732520" y="3557160"/>
            <a:ext cx="31453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500" spc="-1" strike="noStrike">
                <a:solidFill>
                  <a:srgbClr val="171b25"/>
                </a:solidFill>
                <a:latin typeface="Inter"/>
                <a:ea typeface="+mn-ea"/>
              </a:rPr>
              <a:t>Revogue ou substitua as credenciais. Remover da versão atual não apaga o histórico.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Rounded Rectangle 22"/>
          <p:cNvSpPr/>
          <p:nvPr/>
        </p:nvSpPr>
        <p:spPr>
          <a:xfrm>
            <a:off x="1225440" y="5650920"/>
            <a:ext cx="9738000" cy="585000"/>
          </a:xfrm>
          <a:prstGeom prst="roundRect">
            <a:avLst>
              <a:gd name="adj" fmla="val 7500"/>
            </a:avLst>
          </a:prstGeom>
          <a:solidFill>
            <a:srgbClr val="f3e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38" name="TextBox 23"/>
          <p:cNvSpPr/>
          <p:nvPr/>
        </p:nvSpPr>
        <p:spPr>
          <a:xfrm>
            <a:off x="1371600" y="5816520"/>
            <a:ext cx="946368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430" spc="-1" strike="noStrike">
                <a:solidFill>
                  <a:srgbClr val="55179d"/>
                </a:solidFill>
                <a:latin typeface="Inter"/>
                <a:ea typeface="+mn-ea"/>
              </a:rPr>
              <a:t>Segredo exposto deve ser tratado como comprometido, mesmo após excluir o arquivo.</a:t>
            </a:r>
            <a:endParaRPr b="0" lang="pt-BR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340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41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GIT STASH: O ESCONDERIJO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15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4"/>
          <p:cNvSpPr/>
          <p:nvPr/>
        </p:nvSpPr>
        <p:spPr>
          <a:xfrm>
            <a:off x="831960" y="1783080"/>
            <a:ext cx="10515240" cy="1435320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45" name="Shape 5"/>
          <p:cNvSpPr/>
          <p:nvPr/>
        </p:nvSpPr>
        <p:spPr>
          <a:xfrm>
            <a:off x="831960" y="1783080"/>
            <a:ext cx="60120" cy="143532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1060560" y="1947600"/>
            <a:ext cx="10076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dbab5"/>
                </a:solidFill>
                <a:latin typeface="Inter"/>
                <a:ea typeface="Inter"/>
              </a:rPr>
              <a:t>O que é?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7"/>
          <p:cNvSpPr/>
          <p:nvPr/>
        </p:nvSpPr>
        <p:spPr>
          <a:xfrm>
            <a:off x="1060560" y="2459880"/>
            <a:ext cx="100580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71b25"/>
                </a:solidFill>
                <a:latin typeface="Inter"/>
                <a:ea typeface="Inter"/>
              </a:rPr>
              <a:t>O git stash guarda temporariamente alterações que ainda não foram commitadas, deixando a área de trabalho limpa.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8"/>
          <p:cNvSpPr/>
          <p:nvPr/>
        </p:nvSpPr>
        <p:spPr>
          <a:xfrm>
            <a:off x="841320" y="3611880"/>
            <a:ext cx="974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55179d"/>
                </a:solidFill>
                <a:latin typeface="Inter"/>
                <a:ea typeface="Inter"/>
              </a:rPr>
              <a:t>Quando utilizar o “esconderijo”?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9"/>
          <p:cNvSpPr/>
          <p:nvPr/>
        </p:nvSpPr>
        <p:spPr>
          <a:xfrm>
            <a:off x="758880" y="4270320"/>
            <a:ext cx="3593160" cy="149940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50" name="Shape 10"/>
          <p:cNvSpPr/>
          <p:nvPr/>
        </p:nvSpPr>
        <p:spPr>
          <a:xfrm>
            <a:off x="758880" y="4270320"/>
            <a:ext cx="60120" cy="149940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51" name="Text 11"/>
          <p:cNvSpPr/>
          <p:nvPr/>
        </p:nvSpPr>
        <p:spPr>
          <a:xfrm>
            <a:off x="987480" y="443484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70" spc="-1" strike="noStrike">
                <a:solidFill>
                  <a:srgbClr val="0dbab5"/>
                </a:solidFill>
                <a:latin typeface="Inter"/>
                <a:ea typeface="Inter"/>
              </a:rPr>
              <a:t>Trocar de branch</a:t>
            </a:r>
            <a:endParaRPr b="0" lang="pt-BR" sz="1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12"/>
          <p:cNvSpPr/>
          <p:nvPr/>
        </p:nvSpPr>
        <p:spPr>
          <a:xfrm>
            <a:off x="987480" y="4946760"/>
            <a:ext cx="31359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10" spc="-1" strike="noStrike">
                <a:solidFill>
                  <a:srgbClr val="171b25"/>
                </a:solidFill>
                <a:latin typeface="Inter"/>
                <a:ea typeface="Inter"/>
              </a:rPr>
              <a:t>Sem precisar fazer commit de um trabalho incompleto.</a:t>
            </a:r>
            <a:endParaRPr b="0" lang="pt-BR" sz="14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13"/>
          <p:cNvSpPr/>
          <p:nvPr/>
        </p:nvSpPr>
        <p:spPr>
          <a:xfrm>
            <a:off x="4599360" y="4270320"/>
            <a:ext cx="3593160" cy="149940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54" name="Shape 14"/>
          <p:cNvSpPr/>
          <p:nvPr/>
        </p:nvSpPr>
        <p:spPr>
          <a:xfrm>
            <a:off x="4599360" y="4270320"/>
            <a:ext cx="60120" cy="1499400"/>
          </a:xfrm>
          <a:prstGeom prst="rect">
            <a:avLst/>
          </a:prstGeom>
          <a:solidFill>
            <a:srgbClr val="55179d"/>
          </a:solidFill>
          <a:ln w="12700">
            <a:solidFill>
              <a:srgbClr val="55179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55" name="Text 15"/>
          <p:cNvSpPr/>
          <p:nvPr/>
        </p:nvSpPr>
        <p:spPr>
          <a:xfrm>
            <a:off x="4827960" y="443484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70" spc="-1" strike="noStrike">
                <a:solidFill>
                  <a:srgbClr val="55179d"/>
                </a:solidFill>
                <a:latin typeface="Inter"/>
                <a:ea typeface="Inter"/>
              </a:rPr>
              <a:t>Fazer um pull urgente</a:t>
            </a:r>
            <a:endParaRPr b="0" lang="pt-BR" sz="1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16"/>
          <p:cNvSpPr/>
          <p:nvPr/>
        </p:nvSpPr>
        <p:spPr>
          <a:xfrm>
            <a:off x="4827960" y="4946760"/>
            <a:ext cx="31359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10" spc="-1" strike="noStrike">
                <a:solidFill>
                  <a:srgbClr val="171b25"/>
                </a:solidFill>
                <a:latin typeface="Inter"/>
                <a:ea typeface="Inter"/>
              </a:rPr>
              <a:t>Guardar mudanças que possam dificultar a atualização.</a:t>
            </a:r>
            <a:endParaRPr b="0" lang="pt-BR" sz="14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7"/>
          <p:cNvSpPr/>
          <p:nvPr/>
        </p:nvSpPr>
        <p:spPr>
          <a:xfrm>
            <a:off x="8439840" y="4270320"/>
            <a:ext cx="3593160" cy="149940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58" name="Shape 18"/>
          <p:cNvSpPr/>
          <p:nvPr/>
        </p:nvSpPr>
        <p:spPr>
          <a:xfrm>
            <a:off x="8439840" y="4270320"/>
            <a:ext cx="60120" cy="149940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59" name="Text 19"/>
          <p:cNvSpPr/>
          <p:nvPr/>
        </p:nvSpPr>
        <p:spPr>
          <a:xfrm>
            <a:off x="8668440" y="443484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70" spc="-1" strike="noStrike">
                <a:solidFill>
                  <a:srgbClr val="0dbab5"/>
                </a:solidFill>
                <a:latin typeface="Inter"/>
                <a:ea typeface="Inter"/>
              </a:rPr>
              <a:t>Resolver bug crítico</a:t>
            </a:r>
            <a:endParaRPr b="0" lang="pt-BR" sz="1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20"/>
          <p:cNvSpPr/>
          <p:nvPr/>
        </p:nvSpPr>
        <p:spPr>
          <a:xfrm>
            <a:off x="8668440" y="4946760"/>
            <a:ext cx="31359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10" spc="-1" strike="noStrike">
                <a:solidFill>
                  <a:srgbClr val="171b25"/>
                </a:solidFill>
                <a:latin typeface="Inter"/>
                <a:ea typeface="Inter"/>
              </a:rPr>
              <a:t>Interromper uma feature e voltar a ela depois.</a:t>
            </a:r>
            <a:endParaRPr b="0" lang="pt-BR" sz="141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362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63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DOMINANDO O STASH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16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4"/>
          <p:cNvSpPr/>
          <p:nvPr/>
        </p:nvSpPr>
        <p:spPr>
          <a:xfrm>
            <a:off x="758880" y="1664280"/>
            <a:ext cx="5477040" cy="1096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67" name="Shape 5"/>
          <p:cNvSpPr/>
          <p:nvPr/>
        </p:nvSpPr>
        <p:spPr>
          <a:xfrm>
            <a:off x="758880" y="1664280"/>
            <a:ext cx="60120" cy="109692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68" name="Text 6"/>
          <p:cNvSpPr/>
          <p:nvPr/>
        </p:nvSpPr>
        <p:spPr>
          <a:xfrm>
            <a:off x="987480" y="1828800"/>
            <a:ext cx="5037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0dbab5"/>
                </a:solidFill>
                <a:latin typeface="Inter"/>
                <a:ea typeface="Inter"/>
              </a:rPr>
              <a:t>git stash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7"/>
          <p:cNvSpPr/>
          <p:nvPr/>
        </p:nvSpPr>
        <p:spPr>
          <a:xfrm>
            <a:off x="987480" y="2340720"/>
            <a:ext cx="501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20" spc="-1" strike="noStrike">
                <a:solidFill>
                  <a:srgbClr val="171b25"/>
                </a:solidFill>
                <a:latin typeface="Inter"/>
                <a:ea typeface="Inter"/>
              </a:rPr>
              <a:t>Guarda alterações dos arquivos rastreados.</a:t>
            </a:r>
            <a:endParaRPr b="0" lang="pt-BR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8"/>
          <p:cNvSpPr/>
          <p:nvPr/>
        </p:nvSpPr>
        <p:spPr>
          <a:xfrm>
            <a:off x="6556320" y="1664280"/>
            <a:ext cx="5477040" cy="1096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71" name="Shape 9"/>
          <p:cNvSpPr/>
          <p:nvPr/>
        </p:nvSpPr>
        <p:spPr>
          <a:xfrm>
            <a:off x="6556320" y="1664280"/>
            <a:ext cx="60120" cy="1096920"/>
          </a:xfrm>
          <a:prstGeom prst="rect">
            <a:avLst/>
          </a:prstGeom>
          <a:solidFill>
            <a:srgbClr val="55179d"/>
          </a:solidFill>
          <a:ln w="12700">
            <a:solidFill>
              <a:srgbClr val="55179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72" name="Text 10"/>
          <p:cNvSpPr/>
          <p:nvPr/>
        </p:nvSpPr>
        <p:spPr>
          <a:xfrm>
            <a:off x="6784920" y="1828800"/>
            <a:ext cx="5037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55179d"/>
                </a:solidFill>
                <a:latin typeface="Inter"/>
                <a:ea typeface="Inter"/>
              </a:rPr>
              <a:t>git stash list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11"/>
          <p:cNvSpPr/>
          <p:nvPr/>
        </p:nvSpPr>
        <p:spPr>
          <a:xfrm>
            <a:off x="6784920" y="2340720"/>
            <a:ext cx="501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20" spc="-1" strike="noStrike">
                <a:solidFill>
                  <a:srgbClr val="171b25"/>
                </a:solidFill>
                <a:latin typeface="Inter"/>
                <a:ea typeface="Inter"/>
              </a:rPr>
              <a:t>Lista os stashes salvos.</a:t>
            </a:r>
            <a:endParaRPr b="0" lang="pt-BR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12"/>
          <p:cNvSpPr/>
          <p:nvPr/>
        </p:nvSpPr>
        <p:spPr>
          <a:xfrm>
            <a:off x="758880" y="2971800"/>
            <a:ext cx="5477040" cy="1096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75" name="Shape 13"/>
          <p:cNvSpPr/>
          <p:nvPr/>
        </p:nvSpPr>
        <p:spPr>
          <a:xfrm>
            <a:off x="758880" y="2971800"/>
            <a:ext cx="60120" cy="109692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76" name="Text 14"/>
          <p:cNvSpPr/>
          <p:nvPr/>
        </p:nvSpPr>
        <p:spPr>
          <a:xfrm>
            <a:off x="987480" y="3136320"/>
            <a:ext cx="5037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0dbab5"/>
                </a:solidFill>
                <a:latin typeface="Inter"/>
                <a:ea typeface="Inter"/>
              </a:rPr>
              <a:t>git stash apply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15"/>
          <p:cNvSpPr/>
          <p:nvPr/>
        </p:nvSpPr>
        <p:spPr>
          <a:xfrm>
            <a:off x="987480" y="3648600"/>
            <a:ext cx="501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20" spc="-1" strike="noStrike">
                <a:solidFill>
                  <a:srgbClr val="171b25"/>
                </a:solidFill>
                <a:latin typeface="Inter"/>
                <a:ea typeface="Inter"/>
              </a:rPr>
              <a:t>Aplica um stash sem removê-lo da lista.</a:t>
            </a:r>
            <a:endParaRPr b="0" lang="pt-BR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16"/>
          <p:cNvSpPr/>
          <p:nvPr/>
        </p:nvSpPr>
        <p:spPr>
          <a:xfrm>
            <a:off x="6556320" y="2971800"/>
            <a:ext cx="5477040" cy="1096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79" name="Shape 17"/>
          <p:cNvSpPr/>
          <p:nvPr/>
        </p:nvSpPr>
        <p:spPr>
          <a:xfrm>
            <a:off x="6556320" y="2971800"/>
            <a:ext cx="60120" cy="1096920"/>
          </a:xfrm>
          <a:prstGeom prst="rect">
            <a:avLst/>
          </a:prstGeom>
          <a:solidFill>
            <a:srgbClr val="55179d"/>
          </a:solidFill>
          <a:ln w="12700">
            <a:solidFill>
              <a:srgbClr val="55179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80" name="Text 18"/>
          <p:cNvSpPr/>
          <p:nvPr/>
        </p:nvSpPr>
        <p:spPr>
          <a:xfrm>
            <a:off x="6784920" y="3136320"/>
            <a:ext cx="5037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55179d"/>
                </a:solidFill>
                <a:latin typeface="Inter"/>
                <a:ea typeface="Inter"/>
              </a:rPr>
              <a:t>git stash pop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19"/>
          <p:cNvSpPr/>
          <p:nvPr/>
        </p:nvSpPr>
        <p:spPr>
          <a:xfrm>
            <a:off x="6784920" y="3648600"/>
            <a:ext cx="501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20" spc="-1" strike="noStrike">
                <a:solidFill>
                  <a:srgbClr val="171b25"/>
                </a:solidFill>
                <a:latin typeface="Inter"/>
                <a:ea typeface="Inter"/>
              </a:rPr>
              <a:t>Aplica o stash e o remove da lista.</a:t>
            </a:r>
            <a:endParaRPr b="0" lang="pt-BR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20"/>
          <p:cNvSpPr/>
          <p:nvPr/>
        </p:nvSpPr>
        <p:spPr>
          <a:xfrm>
            <a:off x="758880" y="4279320"/>
            <a:ext cx="5477040" cy="1096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83" name="Shape 21"/>
          <p:cNvSpPr/>
          <p:nvPr/>
        </p:nvSpPr>
        <p:spPr>
          <a:xfrm>
            <a:off x="758880" y="4279320"/>
            <a:ext cx="60120" cy="109692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84" name="Text 22"/>
          <p:cNvSpPr/>
          <p:nvPr/>
        </p:nvSpPr>
        <p:spPr>
          <a:xfrm>
            <a:off x="987480" y="4443840"/>
            <a:ext cx="5037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0dbab5"/>
                </a:solidFill>
                <a:latin typeface="Inter"/>
                <a:ea typeface="Inter"/>
              </a:rPr>
              <a:t>git stash -u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23"/>
          <p:cNvSpPr/>
          <p:nvPr/>
        </p:nvSpPr>
        <p:spPr>
          <a:xfrm>
            <a:off x="987480" y="4956120"/>
            <a:ext cx="501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20" spc="-1" strike="noStrike">
                <a:solidFill>
                  <a:srgbClr val="171b25"/>
                </a:solidFill>
                <a:latin typeface="Inter"/>
                <a:ea typeface="Inter"/>
              </a:rPr>
              <a:t>Inclui também arquivos novos (untracked).</a:t>
            </a:r>
            <a:endParaRPr b="0" lang="pt-BR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24"/>
          <p:cNvSpPr/>
          <p:nvPr/>
        </p:nvSpPr>
        <p:spPr>
          <a:xfrm>
            <a:off x="6556320" y="4279320"/>
            <a:ext cx="5477040" cy="1096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87" name="Shape 25"/>
          <p:cNvSpPr/>
          <p:nvPr/>
        </p:nvSpPr>
        <p:spPr>
          <a:xfrm>
            <a:off x="6556320" y="4279320"/>
            <a:ext cx="60120" cy="1096920"/>
          </a:xfrm>
          <a:prstGeom prst="rect">
            <a:avLst/>
          </a:prstGeom>
          <a:solidFill>
            <a:srgbClr val="55179d"/>
          </a:solidFill>
          <a:ln w="12700">
            <a:solidFill>
              <a:srgbClr val="55179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88" name="Text 26"/>
          <p:cNvSpPr/>
          <p:nvPr/>
        </p:nvSpPr>
        <p:spPr>
          <a:xfrm>
            <a:off x="6784920" y="4443840"/>
            <a:ext cx="5037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55179d"/>
                </a:solidFill>
                <a:latin typeface="Inter"/>
                <a:ea typeface="Inter"/>
              </a:rPr>
              <a:t>git stash clear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27"/>
          <p:cNvSpPr/>
          <p:nvPr/>
        </p:nvSpPr>
        <p:spPr>
          <a:xfrm>
            <a:off x="6784920" y="4956120"/>
            <a:ext cx="501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20" spc="-1" strike="noStrike">
                <a:solidFill>
                  <a:srgbClr val="171b25"/>
                </a:solidFill>
                <a:latin typeface="Inter"/>
                <a:ea typeface="Inter"/>
              </a:rPr>
              <a:t>Apaga todos os stashes salvos.</a:t>
            </a:r>
            <a:endParaRPr b="0" lang="pt-BR" sz="1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28"/>
          <p:cNvSpPr/>
          <p:nvPr/>
        </p:nvSpPr>
        <p:spPr>
          <a:xfrm>
            <a:off x="1033200" y="5852160"/>
            <a:ext cx="10103760" cy="456840"/>
          </a:xfrm>
          <a:prstGeom prst="roundRect">
            <a:avLst>
              <a:gd name="adj" fmla="val 18000"/>
            </a:avLst>
          </a:prstGeom>
          <a:solidFill>
            <a:srgbClr val="f1e7fd"/>
          </a:solidFill>
          <a:ln w="12700">
            <a:solidFill>
              <a:srgbClr val="f1e7f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91" name="Text 29"/>
          <p:cNvSpPr/>
          <p:nvPr/>
        </p:nvSpPr>
        <p:spPr>
          <a:xfrm>
            <a:off x="1115640" y="5888880"/>
            <a:ext cx="993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55179d"/>
                </a:solidFill>
                <a:latin typeface="Inter"/>
                <a:ea typeface="Inter"/>
              </a:rPr>
              <a:t>apply: mantém o stash salvo      •      pop: remove o stash após aplicação bem-sucedida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393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94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GIT RESET: VOLTANDO NO TEMPO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17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4"/>
          <p:cNvSpPr/>
          <p:nvPr/>
        </p:nvSpPr>
        <p:spPr>
          <a:xfrm>
            <a:off x="758880" y="1691640"/>
            <a:ext cx="106066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71b25"/>
                </a:solidFill>
                <a:latin typeface="Inter"/>
                <a:ea typeface="Inter"/>
              </a:rPr>
              <a:t>O git reset permite reposicionar a referência atual de uma branch. Para entender seu funcionamento, precisamos conhecer o HEAD.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5"/>
          <p:cNvSpPr/>
          <p:nvPr/>
        </p:nvSpPr>
        <p:spPr>
          <a:xfrm>
            <a:off x="1051560" y="2688480"/>
            <a:ext cx="10112760" cy="2285640"/>
          </a:xfrm>
          <a:prstGeom prst="roundRect">
            <a:avLst>
              <a:gd name="adj" fmla="val 4000"/>
            </a:avLst>
          </a:prstGeom>
          <a:solidFill>
            <a:srgbClr val="eaf1fa"/>
          </a:solidFill>
          <a:ln w="12700">
            <a:solidFill>
              <a:srgbClr val="eaf1f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99" name="Shape 6"/>
          <p:cNvSpPr/>
          <p:nvPr/>
        </p:nvSpPr>
        <p:spPr>
          <a:xfrm>
            <a:off x="1938600" y="3191400"/>
            <a:ext cx="1828440" cy="113364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00" name="Text 7"/>
          <p:cNvSpPr/>
          <p:nvPr/>
        </p:nvSpPr>
        <p:spPr>
          <a:xfrm>
            <a:off x="1938600" y="3447360"/>
            <a:ext cx="18284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55179d"/>
                </a:solidFill>
                <a:latin typeface="Inter"/>
                <a:ea typeface="Inter"/>
              </a:rPr>
              <a:t>C1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8"/>
          <p:cNvSpPr/>
          <p:nvPr/>
        </p:nvSpPr>
        <p:spPr>
          <a:xfrm>
            <a:off x="1938600" y="3913560"/>
            <a:ext cx="1828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576"/>
                </a:solidFill>
                <a:latin typeface="Inter"/>
                <a:ea typeface="Inter"/>
              </a:rPr>
              <a:t>HEAD~2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9"/>
          <p:cNvSpPr/>
          <p:nvPr/>
        </p:nvSpPr>
        <p:spPr>
          <a:xfrm>
            <a:off x="3931920" y="3749040"/>
            <a:ext cx="621720" cy="360"/>
          </a:xfrm>
          <a:prstGeom prst="line">
            <a:avLst/>
          </a:prstGeom>
          <a:ln w="25400">
            <a:solidFill>
              <a:srgbClr val="55179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03" name="Shape 10"/>
          <p:cNvSpPr/>
          <p:nvPr/>
        </p:nvSpPr>
        <p:spPr>
          <a:xfrm>
            <a:off x="4754880" y="3191400"/>
            <a:ext cx="1828440" cy="113364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04" name="Text 11"/>
          <p:cNvSpPr/>
          <p:nvPr/>
        </p:nvSpPr>
        <p:spPr>
          <a:xfrm>
            <a:off x="4754880" y="3447360"/>
            <a:ext cx="18284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55179d"/>
                </a:solidFill>
                <a:latin typeface="Inter"/>
                <a:ea typeface="Inter"/>
              </a:rPr>
              <a:t>C2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12"/>
          <p:cNvSpPr/>
          <p:nvPr/>
        </p:nvSpPr>
        <p:spPr>
          <a:xfrm>
            <a:off x="4754880" y="3913560"/>
            <a:ext cx="1828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576"/>
                </a:solidFill>
                <a:latin typeface="Inter"/>
                <a:ea typeface="Inter"/>
              </a:rPr>
              <a:t>HEAD~1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3"/>
          <p:cNvSpPr/>
          <p:nvPr/>
        </p:nvSpPr>
        <p:spPr>
          <a:xfrm>
            <a:off x="6748200" y="3749040"/>
            <a:ext cx="621720" cy="360"/>
          </a:xfrm>
          <a:prstGeom prst="line">
            <a:avLst/>
          </a:prstGeom>
          <a:ln w="25400">
            <a:solidFill>
              <a:srgbClr val="55179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07" name="Shape 14"/>
          <p:cNvSpPr/>
          <p:nvPr/>
        </p:nvSpPr>
        <p:spPr>
          <a:xfrm>
            <a:off x="7589520" y="3191400"/>
            <a:ext cx="1828440" cy="1133640"/>
          </a:xfrm>
          <a:prstGeom prst="roundRect">
            <a:avLst>
              <a:gd name="adj" fmla="val 8065"/>
            </a:avLst>
          </a:prstGeom>
          <a:solidFill>
            <a:srgbClr val="e9f9f8"/>
          </a:solidFill>
          <a:ln w="11430">
            <a:solidFill>
              <a:srgbClr val="0dba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08" name="Text 15"/>
          <p:cNvSpPr/>
          <p:nvPr/>
        </p:nvSpPr>
        <p:spPr>
          <a:xfrm>
            <a:off x="7589520" y="3447360"/>
            <a:ext cx="18284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dbab5"/>
                </a:solidFill>
                <a:latin typeface="Inter"/>
                <a:ea typeface="Inter"/>
              </a:rPr>
              <a:t>C3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16"/>
          <p:cNvSpPr/>
          <p:nvPr/>
        </p:nvSpPr>
        <p:spPr>
          <a:xfrm>
            <a:off x="7589520" y="3913560"/>
            <a:ext cx="1828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576"/>
                </a:solidFill>
                <a:latin typeface="Inter"/>
                <a:ea typeface="Inter"/>
              </a:rPr>
              <a:t>Atual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17"/>
          <p:cNvSpPr/>
          <p:nvPr/>
        </p:nvSpPr>
        <p:spPr>
          <a:xfrm>
            <a:off x="8019360" y="2880360"/>
            <a:ext cx="97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bab5"/>
                </a:solidFill>
                <a:latin typeface="Inter"/>
                <a:ea typeface="Inter"/>
              </a:rPr>
              <a:t>HEAD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18"/>
          <p:cNvSpPr/>
          <p:nvPr/>
        </p:nvSpPr>
        <p:spPr>
          <a:xfrm>
            <a:off x="8503920" y="3136320"/>
            <a:ext cx="360" cy="109800"/>
          </a:xfrm>
          <a:prstGeom prst="line">
            <a:avLst/>
          </a:prstGeom>
          <a:ln w="25400">
            <a:solidFill>
              <a:srgbClr val="0dbab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12" name="Shape 19"/>
          <p:cNvSpPr/>
          <p:nvPr/>
        </p:nvSpPr>
        <p:spPr>
          <a:xfrm>
            <a:off x="1069920" y="5422320"/>
            <a:ext cx="10076400" cy="520920"/>
          </a:xfrm>
          <a:prstGeom prst="roundRect">
            <a:avLst>
              <a:gd name="adj" fmla="val 15789"/>
            </a:avLst>
          </a:prstGeom>
          <a:solidFill>
            <a:srgbClr val="f1e7fd"/>
          </a:solidFill>
          <a:ln w="12700">
            <a:solidFill>
              <a:srgbClr val="f1e7f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13" name="Text 20"/>
          <p:cNvSpPr/>
          <p:nvPr/>
        </p:nvSpPr>
        <p:spPr>
          <a:xfrm>
            <a:off x="1152000" y="5459040"/>
            <a:ext cx="99118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55179d"/>
                </a:solidFill>
                <a:latin typeface="Inter"/>
                <a:ea typeface="Inter"/>
              </a:rPr>
              <a:t>git reset --soft HEAD~1  →  reposiciona a branch no commit anterior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415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16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SOFT, MIXED OU HARD?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18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4"/>
          <p:cNvSpPr/>
          <p:nvPr/>
        </p:nvSpPr>
        <p:spPr>
          <a:xfrm>
            <a:off x="740520" y="1746360"/>
            <a:ext cx="10679760" cy="58500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813960" y="1892880"/>
            <a:ext cx="22766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  <a:ea typeface="Inter"/>
              </a:rPr>
              <a:t>MODO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6"/>
          <p:cNvSpPr/>
          <p:nvPr/>
        </p:nvSpPr>
        <p:spPr>
          <a:xfrm>
            <a:off x="3237120" y="1892880"/>
            <a:ext cx="27244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  <a:ea typeface="Inter"/>
              </a:rPr>
              <a:t>VOLTA O COMMIT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7"/>
          <p:cNvSpPr/>
          <p:nvPr/>
        </p:nvSpPr>
        <p:spPr>
          <a:xfrm>
            <a:off x="6108120" y="1892880"/>
            <a:ext cx="23313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  <a:ea typeface="Inter"/>
              </a:rPr>
              <a:t>LIMPA O STAGE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8"/>
          <p:cNvSpPr/>
          <p:nvPr/>
        </p:nvSpPr>
        <p:spPr>
          <a:xfrm>
            <a:off x="8586360" y="1892880"/>
            <a:ext cx="2742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ffffff"/>
                </a:solidFill>
                <a:latin typeface="Inter"/>
                <a:ea typeface="Inter"/>
              </a:rPr>
              <a:t>DESCARTA MUDANÇAS¹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9"/>
          <p:cNvSpPr/>
          <p:nvPr/>
        </p:nvSpPr>
        <p:spPr>
          <a:xfrm>
            <a:off x="740520" y="2331720"/>
            <a:ext cx="10679760" cy="61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25" name="Text 10"/>
          <p:cNvSpPr/>
          <p:nvPr/>
        </p:nvSpPr>
        <p:spPr>
          <a:xfrm>
            <a:off x="813960" y="2477880"/>
            <a:ext cx="227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d6262"/>
                </a:solidFill>
                <a:latin typeface="Inter"/>
                <a:ea typeface="Inter"/>
              </a:rPr>
              <a:t>--soft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11"/>
          <p:cNvSpPr/>
          <p:nvPr/>
        </p:nvSpPr>
        <p:spPr>
          <a:xfrm>
            <a:off x="3237120" y="2477880"/>
            <a:ext cx="272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a565"/>
                </a:solidFill>
                <a:latin typeface="Inter"/>
                <a:ea typeface="Inter"/>
              </a:rPr>
              <a:t>SIM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12"/>
          <p:cNvSpPr/>
          <p:nvPr/>
        </p:nvSpPr>
        <p:spPr>
          <a:xfrm>
            <a:off x="6108120" y="247788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dd6262"/>
                </a:solidFill>
                <a:latin typeface="Inter"/>
                <a:ea typeface="Inter"/>
              </a:rPr>
              <a:t>NÃO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13"/>
          <p:cNvSpPr/>
          <p:nvPr/>
        </p:nvSpPr>
        <p:spPr>
          <a:xfrm>
            <a:off x="8586360" y="2477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a565"/>
                </a:solidFill>
                <a:latin typeface="Inter"/>
                <a:ea typeface="Inter"/>
              </a:rPr>
              <a:t>NÃO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14"/>
          <p:cNvSpPr/>
          <p:nvPr/>
        </p:nvSpPr>
        <p:spPr>
          <a:xfrm>
            <a:off x="740520" y="2944440"/>
            <a:ext cx="10679760" cy="612360"/>
          </a:xfrm>
          <a:prstGeom prst="rect">
            <a:avLst/>
          </a:prstGeom>
          <a:solidFill>
            <a:srgbClr val="edf3fa"/>
          </a:solidFill>
          <a:ln w="12700">
            <a:solidFill>
              <a:srgbClr val="edf3f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30" name="Text 15"/>
          <p:cNvSpPr/>
          <p:nvPr/>
        </p:nvSpPr>
        <p:spPr>
          <a:xfrm>
            <a:off x="813960" y="3090600"/>
            <a:ext cx="227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d6262"/>
                </a:solidFill>
                <a:latin typeface="Inter"/>
                <a:ea typeface="Inter"/>
              </a:rPr>
              <a:t>--mixed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16"/>
          <p:cNvSpPr/>
          <p:nvPr/>
        </p:nvSpPr>
        <p:spPr>
          <a:xfrm>
            <a:off x="3237120" y="3090600"/>
            <a:ext cx="272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a565"/>
                </a:solidFill>
                <a:latin typeface="Inter"/>
                <a:ea typeface="Inter"/>
              </a:rPr>
              <a:t>SIM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17"/>
          <p:cNvSpPr/>
          <p:nvPr/>
        </p:nvSpPr>
        <p:spPr>
          <a:xfrm>
            <a:off x="6108120" y="309060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a565"/>
                </a:solidFill>
                <a:latin typeface="Inter"/>
                <a:ea typeface="Inter"/>
              </a:rPr>
              <a:t>SIM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18"/>
          <p:cNvSpPr/>
          <p:nvPr/>
        </p:nvSpPr>
        <p:spPr>
          <a:xfrm>
            <a:off x="8586360" y="3090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a565"/>
                </a:solidFill>
                <a:latin typeface="Inter"/>
                <a:ea typeface="Inter"/>
              </a:rPr>
              <a:t>NÃO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19"/>
          <p:cNvSpPr/>
          <p:nvPr/>
        </p:nvSpPr>
        <p:spPr>
          <a:xfrm>
            <a:off x="740520" y="3557160"/>
            <a:ext cx="10679760" cy="61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35" name="Text 20"/>
          <p:cNvSpPr/>
          <p:nvPr/>
        </p:nvSpPr>
        <p:spPr>
          <a:xfrm>
            <a:off x="813960" y="3703320"/>
            <a:ext cx="227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dd6262"/>
                </a:solidFill>
                <a:latin typeface="Inter"/>
                <a:ea typeface="Inter"/>
              </a:rPr>
              <a:t>--hard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21"/>
          <p:cNvSpPr/>
          <p:nvPr/>
        </p:nvSpPr>
        <p:spPr>
          <a:xfrm>
            <a:off x="3237120" y="3703320"/>
            <a:ext cx="272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a565"/>
                </a:solidFill>
                <a:latin typeface="Inter"/>
                <a:ea typeface="Inter"/>
              </a:rPr>
              <a:t>SIM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22"/>
          <p:cNvSpPr/>
          <p:nvPr/>
        </p:nvSpPr>
        <p:spPr>
          <a:xfrm>
            <a:off x="6108120" y="370332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a565"/>
                </a:solidFill>
                <a:latin typeface="Inter"/>
                <a:ea typeface="Inter"/>
              </a:rPr>
              <a:t>SIM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23"/>
          <p:cNvSpPr/>
          <p:nvPr/>
        </p:nvSpPr>
        <p:spPr>
          <a:xfrm>
            <a:off x="8586360" y="37033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dd6262"/>
                </a:solidFill>
                <a:latin typeface="Inter"/>
                <a:ea typeface="Inter"/>
              </a:rPr>
              <a:t>SIM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24"/>
          <p:cNvSpPr/>
          <p:nvPr/>
        </p:nvSpPr>
        <p:spPr>
          <a:xfrm>
            <a:off x="777240" y="4489560"/>
            <a:ext cx="356580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40" name="Shape 25"/>
          <p:cNvSpPr/>
          <p:nvPr/>
        </p:nvSpPr>
        <p:spPr>
          <a:xfrm>
            <a:off x="777240" y="4489560"/>
            <a:ext cx="60120" cy="118836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41" name="Text 26"/>
          <p:cNvSpPr/>
          <p:nvPr/>
        </p:nvSpPr>
        <p:spPr>
          <a:xfrm>
            <a:off x="1005840" y="4654440"/>
            <a:ext cx="312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0dbab5"/>
                </a:solidFill>
                <a:latin typeface="Inter"/>
                <a:ea typeface="Inter"/>
              </a:rPr>
              <a:t>Soft (leve)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27"/>
          <p:cNvSpPr/>
          <p:nvPr/>
        </p:nvSpPr>
        <p:spPr>
          <a:xfrm>
            <a:off x="1005840" y="51663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70" spc="-1" strike="noStrike">
                <a:solidFill>
                  <a:srgbClr val="171b25"/>
                </a:solidFill>
                <a:latin typeface="Inter"/>
                <a:ea typeface="Inter"/>
              </a:rPr>
              <a:t>Volta o commit; preserva as alterações preparadas.</a:t>
            </a:r>
            <a:endParaRPr b="0" lang="pt-BR" sz="1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28"/>
          <p:cNvSpPr/>
          <p:nvPr/>
        </p:nvSpPr>
        <p:spPr>
          <a:xfrm>
            <a:off x="4590360" y="4489560"/>
            <a:ext cx="356580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44" name="Shape 29"/>
          <p:cNvSpPr/>
          <p:nvPr/>
        </p:nvSpPr>
        <p:spPr>
          <a:xfrm>
            <a:off x="4590360" y="4489560"/>
            <a:ext cx="60120" cy="1188360"/>
          </a:xfrm>
          <a:prstGeom prst="rect">
            <a:avLst/>
          </a:prstGeom>
          <a:solidFill>
            <a:srgbClr val="55179d"/>
          </a:solidFill>
          <a:ln w="12700">
            <a:solidFill>
              <a:srgbClr val="55179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45" name="Text 30"/>
          <p:cNvSpPr/>
          <p:nvPr/>
        </p:nvSpPr>
        <p:spPr>
          <a:xfrm>
            <a:off x="4818960" y="4654440"/>
            <a:ext cx="312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55179d"/>
                </a:solidFill>
                <a:latin typeface="Inter"/>
                <a:ea typeface="Inter"/>
              </a:rPr>
              <a:t>Mixed (médio)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31"/>
          <p:cNvSpPr/>
          <p:nvPr/>
        </p:nvSpPr>
        <p:spPr>
          <a:xfrm>
            <a:off x="4818960" y="51663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70" spc="-1" strike="noStrike">
                <a:solidFill>
                  <a:srgbClr val="171b25"/>
                </a:solidFill>
                <a:latin typeface="Inter"/>
                <a:ea typeface="Inter"/>
              </a:rPr>
              <a:t>Volta o commit e tira as alterações do stage.</a:t>
            </a:r>
            <a:endParaRPr b="0" lang="pt-BR" sz="1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32"/>
          <p:cNvSpPr/>
          <p:nvPr/>
        </p:nvSpPr>
        <p:spPr>
          <a:xfrm>
            <a:off x="8403480" y="4489560"/>
            <a:ext cx="356580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48" name="Shape 33"/>
          <p:cNvSpPr/>
          <p:nvPr/>
        </p:nvSpPr>
        <p:spPr>
          <a:xfrm>
            <a:off x="8403480" y="4489560"/>
            <a:ext cx="60120" cy="1188360"/>
          </a:xfrm>
          <a:prstGeom prst="rect">
            <a:avLst/>
          </a:prstGeom>
          <a:solidFill>
            <a:srgbClr val="dd6262"/>
          </a:solidFill>
          <a:ln w="12700">
            <a:solidFill>
              <a:srgbClr val="dd626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49" name="Text 34"/>
          <p:cNvSpPr/>
          <p:nvPr/>
        </p:nvSpPr>
        <p:spPr>
          <a:xfrm>
            <a:off x="8632080" y="4654440"/>
            <a:ext cx="312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dd6262"/>
                </a:solidFill>
                <a:latin typeface="Inter"/>
                <a:ea typeface="Inter"/>
              </a:rPr>
              <a:t>Hard (pesado)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35"/>
          <p:cNvSpPr/>
          <p:nvPr/>
        </p:nvSpPr>
        <p:spPr>
          <a:xfrm>
            <a:off x="8632080" y="51663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70" spc="-1" strike="noStrike">
                <a:solidFill>
                  <a:srgbClr val="171b25"/>
                </a:solidFill>
                <a:latin typeface="Inter"/>
                <a:ea typeface="Inter"/>
              </a:rPr>
              <a:t>Reverte índice e arquivos rastreados ao estado escolhido.</a:t>
            </a:r>
            <a:endParaRPr b="0" lang="pt-BR" sz="1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36"/>
          <p:cNvSpPr/>
          <p:nvPr/>
        </p:nvSpPr>
        <p:spPr>
          <a:xfrm>
            <a:off x="868680" y="5952600"/>
            <a:ext cx="10506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70" spc="-1" strike="noStrike">
                <a:solidFill>
                  <a:srgbClr val="5c6576"/>
                </a:solidFill>
                <a:latin typeface="Inter"/>
                <a:ea typeface="Inter"/>
              </a:rPr>
              <a:t>¹ </a:t>
            </a:r>
            <a:r>
              <a:rPr b="0" i="1" lang="en-US" sz="1170" spc="-1" strike="noStrike">
                <a:solidFill>
                  <a:srgbClr val="5c6576"/>
                </a:solidFill>
                <a:latin typeface="Inter"/>
                <a:ea typeface="Inter"/>
              </a:rPr>
              <a:t>--hard pode descartar alterações locais em arquivos rastreados; use com cuidado.</a:t>
            </a:r>
            <a:endParaRPr b="0" lang="pt-BR" sz="1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453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54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GIT REVERT: O CAMINHO SEGURO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19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4"/>
          <p:cNvSpPr/>
          <p:nvPr/>
        </p:nvSpPr>
        <p:spPr>
          <a:xfrm>
            <a:off x="749880" y="1682640"/>
            <a:ext cx="1063404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58" name="Shape 5"/>
          <p:cNvSpPr/>
          <p:nvPr/>
        </p:nvSpPr>
        <p:spPr>
          <a:xfrm>
            <a:off x="749880" y="1682640"/>
            <a:ext cx="60120" cy="1078560"/>
          </a:xfrm>
          <a:prstGeom prst="rect">
            <a:avLst/>
          </a:prstGeom>
          <a:solidFill>
            <a:srgbClr val="21a565"/>
          </a:solidFill>
          <a:ln w="12700">
            <a:solidFill>
              <a:srgbClr val="21a56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59" name="Text 6"/>
          <p:cNvSpPr/>
          <p:nvPr/>
        </p:nvSpPr>
        <p:spPr>
          <a:xfrm>
            <a:off x="978480" y="1847160"/>
            <a:ext cx="10195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21a565"/>
                </a:solidFill>
                <a:latin typeface="Inter"/>
                <a:ea typeface="Inter"/>
              </a:rPr>
              <a:t>O git revert não apaga o passado.</a:t>
            </a:r>
            <a:endParaRPr b="0" lang="pt-BR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7"/>
          <p:cNvSpPr/>
          <p:nvPr/>
        </p:nvSpPr>
        <p:spPr>
          <a:xfrm>
            <a:off x="978480" y="2359080"/>
            <a:ext cx="1017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171b25"/>
                </a:solidFill>
                <a:latin typeface="Inter"/>
                <a:ea typeface="Inter"/>
              </a:rPr>
              <a:t>Ele cria um novo commit que desfaz as mudanças introduzidas por um commit anterior.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8"/>
          <p:cNvSpPr/>
          <p:nvPr/>
        </p:nvSpPr>
        <p:spPr>
          <a:xfrm>
            <a:off x="1728360" y="3264480"/>
            <a:ext cx="2175840" cy="1151640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1430">
            <a:solidFill>
              <a:srgbClr val="128c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62" name="Text 9"/>
          <p:cNvSpPr/>
          <p:nvPr/>
        </p:nvSpPr>
        <p:spPr>
          <a:xfrm>
            <a:off x="1792080" y="3456360"/>
            <a:ext cx="2048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28cda"/>
                </a:solidFill>
                <a:latin typeface="Inter"/>
                <a:ea typeface="Inter"/>
              </a:rPr>
              <a:t>Commit 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0"/>
          <p:cNvSpPr/>
          <p:nvPr/>
        </p:nvSpPr>
        <p:spPr>
          <a:xfrm>
            <a:off x="3949920" y="3840480"/>
            <a:ext cx="603720" cy="360"/>
          </a:xfrm>
          <a:prstGeom prst="line">
            <a:avLst/>
          </a:prstGeom>
          <a:ln w="27940">
            <a:solidFill>
              <a:srgbClr val="55179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64" name="Shape 11"/>
          <p:cNvSpPr/>
          <p:nvPr/>
        </p:nvSpPr>
        <p:spPr>
          <a:xfrm>
            <a:off x="4645080" y="3264480"/>
            <a:ext cx="2175840" cy="1151640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1430">
            <a:solidFill>
              <a:srgbClr val="dd62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65" name="Text 12"/>
          <p:cNvSpPr/>
          <p:nvPr/>
        </p:nvSpPr>
        <p:spPr>
          <a:xfrm>
            <a:off x="4709160" y="3456360"/>
            <a:ext cx="2048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dd6262"/>
                </a:solidFill>
                <a:latin typeface="Inter"/>
                <a:ea typeface="Inter"/>
              </a:rPr>
              <a:t>Commit B (erro)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13"/>
          <p:cNvSpPr/>
          <p:nvPr/>
        </p:nvSpPr>
        <p:spPr>
          <a:xfrm>
            <a:off x="6949440" y="3840480"/>
            <a:ext cx="960120" cy="360"/>
          </a:xfrm>
          <a:prstGeom prst="line">
            <a:avLst/>
          </a:prstGeom>
          <a:ln w="27940">
            <a:solidFill>
              <a:srgbClr val="55179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67" name="Shape 14"/>
          <p:cNvSpPr/>
          <p:nvPr/>
        </p:nvSpPr>
        <p:spPr>
          <a:xfrm>
            <a:off x="7982640" y="3264480"/>
            <a:ext cx="2395440" cy="1151640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1430">
            <a:solidFill>
              <a:srgbClr val="21a5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68" name="Text 15"/>
          <p:cNvSpPr/>
          <p:nvPr/>
        </p:nvSpPr>
        <p:spPr>
          <a:xfrm>
            <a:off x="8046720" y="3456360"/>
            <a:ext cx="2267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1a565"/>
                </a:solidFill>
                <a:latin typeface="Inter"/>
                <a:ea typeface="Inter"/>
              </a:rPr>
              <a:t>Commit C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1a565"/>
                </a:solidFill>
                <a:latin typeface="Inter"/>
                <a:ea typeface="Inter"/>
              </a:rPr>
              <a:t>(Revert B)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16"/>
          <p:cNvSpPr/>
          <p:nvPr/>
        </p:nvSpPr>
        <p:spPr>
          <a:xfrm>
            <a:off x="1810440" y="4800600"/>
            <a:ext cx="8595000" cy="658080"/>
          </a:xfrm>
          <a:prstGeom prst="roundRect">
            <a:avLst>
              <a:gd name="adj" fmla="val 15278"/>
            </a:avLst>
          </a:prstGeom>
          <a:solidFill>
            <a:srgbClr val="0e192a"/>
          </a:solidFill>
          <a:ln w="12700">
            <a:solidFill>
              <a:srgbClr val="0e192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70" name="Text 17"/>
          <p:cNvSpPr/>
          <p:nvPr/>
        </p:nvSpPr>
        <p:spPr>
          <a:xfrm>
            <a:off x="2066400" y="4983480"/>
            <a:ext cx="8119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4f1ff"/>
                </a:solidFill>
                <a:latin typeface="Courier New"/>
                <a:ea typeface="Courier New"/>
              </a:rPr>
              <a:t>git revert &lt;hash-do-commit&gt;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18"/>
          <p:cNvSpPr/>
          <p:nvPr/>
        </p:nvSpPr>
        <p:spPr>
          <a:xfrm>
            <a:off x="969120" y="5742360"/>
            <a:ext cx="10240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20" spc="-1" strike="noStrike">
                <a:solidFill>
                  <a:srgbClr val="55179d"/>
                </a:solidFill>
                <a:latin typeface="Inter"/>
                <a:ea typeface="Inter"/>
              </a:rPr>
              <a:t>Boa escolha para branches compartilhadas, como main: preserva o histórico existente.</a:t>
            </a:r>
            <a:endParaRPr b="0" lang="pt-BR" sz="15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Image 0" descr="/mnt/data/a1_header_dark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473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74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ffffff"/>
                </a:solidFill>
                <a:latin typeface="Inter"/>
                <a:ea typeface="Inter"/>
              </a:rPr>
              <a:t>GIT FLOW: O MODELO DE TRABALHO</a:t>
            </a:r>
            <a:endParaRPr b="0" lang="pt-BR" sz="22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da0aa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20</a:t>
            </a:r>
            <a:endParaRPr b="0" lang="pt-BR" sz="7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Shape 4"/>
          <p:cNvSpPr/>
          <p:nvPr/>
        </p:nvSpPr>
        <p:spPr>
          <a:xfrm>
            <a:off x="1024200" y="1847160"/>
            <a:ext cx="10103760" cy="2505240"/>
          </a:xfrm>
          <a:prstGeom prst="roundRect">
            <a:avLst>
              <a:gd name="adj" fmla="val 4380"/>
            </a:avLst>
          </a:prstGeom>
          <a:solidFill>
            <a:srgbClr val="121d2d"/>
          </a:solidFill>
          <a:ln w="11430">
            <a:solidFill>
              <a:srgbClr val="22b9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78" name="Text 5"/>
          <p:cNvSpPr/>
          <p:nvPr/>
        </p:nvSpPr>
        <p:spPr>
          <a:xfrm>
            <a:off x="1435680" y="2277000"/>
            <a:ext cx="928080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 defTabSz="914400">
              <a:lnSpc>
                <a:spcPct val="100000"/>
              </a:lnSpc>
            </a:pPr>
            <a:r>
              <a:rPr b="0" lang="pt-BR" sz="1760" spc="-1" strike="noStrike">
                <a:solidFill>
                  <a:srgbClr val="ffffff"/>
                </a:solidFill>
                <a:latin typeface="Inter"/>
                <a:ea typeface="+mn-ea"/>
              </a:rPr>
              <a:t>O Git Flow é um modelo de organização de branches em torno de lançamentos. Usa linhas duradouras e branches de suporte para separar desenvolvimento, testes e produção.</a:t>
            </a:r>
            <a:endParaRPr b="0" lang="pt-BR" sz="176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760" spc="-1" strike="noStrike">
                <a:solidFill>
                  <a:srgbClr val="ffffff"/>
                </a:solidFill>
                <a:latin typeface="Inter"/>
                <a:ea typeface="+mn-ea"/>
              </a:rPr>
              <a:t>É uma estratégia possível, não uma regra obrigatória do Git.</a:t>
            </a:r>
            <a:endParaRPr b="0" lang="pt-BR" sz="17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6"/>
          <p:cNvSpPr/>
          <p:nvPr/>
        </p:nvSpPr>
        <p:spPr>
          <a:xfrm>
            <a:off x="1536120" y="3346560"/>
            <a:ext cx="9116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1540" spc="-1" strike="noStrike">
                <a:solidFill>
                  <a:srgbClr val="e4f1ff"/>
                </a:solidFill>
                <a:latin typeface="Inter"/>
                <a:ea typeface="+mn-ea"/>
              </a:rPr>
              <a:t>Exemplo de uso: projetos com versões planejadas, homologação e manutenção em produção.</a:t>
            </a:r>
            <a:endParaRPr b="0" lang="pt-BR" sz="15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Shape 7"/>
          <p:cNvSpPr/>
          <p:nvPr/>
        </p:nvSpPr>
        <p:spPr>
          <a:xfrm>
            <a:off x="2121480" y="4883040"/>
            <a:ext cx="7936560" cy="585000"/>
          </a:xfrm>
          <a:prstGeom prst="roundRect">
            <a:avLst>
              <a:gd name="adj" fmla="val 14063"/>
            </a:avLst>
          </a:prstGeom>
          <a:solidFill>
            <a:srgbClr val="25194a"/>
          </a:solidFill>
          <a:ln w="12700">
            <a:solidFill>
              <a:srgbClr val="25194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81" name="Text 8"/>
          <p:cNvSpPr/>
          <p:nvPr/>
        </p:nvSpPr>
        <p:spPr>
          <a:xfrm>
            <a:off x="2203560" y="4919400"/>
            <a:ext cx="7772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3d7fa"/>
                </a:solidFill>
                <a:latin typeface="Inter"/>
                <a:ea typeface="Inter"/>
              </a:rPr>
              <a:t>Modelo publicado e popularizado por Vincent Driessen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483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84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VANTAGENS DO GIT FLOW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21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4"/>
          <p:cNvSpPr/>
          <p:nvPr/>
        </p:nvSpPr>
        <p:spPr>
          <a:xfrm>
            <a:off x="1024200" y="1719000"/>
            <a:ext cx="10131120" cy="1215720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88" name="Shape 5"/>
          <p:cNvSpPr/>
          <p:nvPr/>
        </p:nvSpPr>
        <p:spPr>
          <a:xfrm>
            <a:off x="1024200" y="1719000"/>
            <a:ext cx="60120" cy="121572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89" name="Text 6"/>
          <p:cNvSpPr/>
          <p:nvPr/>
        </p:nvSpPr>
        <p:spPr>
          <a:xfrm>
            <a:off x="1252800" y="1883520"/>
            <a:ext cx="969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0dbab5"/>
                </a:solidFill>
                <a:latin typeface="Inter"/>
                <a:ea typeface="Inter"/>
              </a:rPr>
              <a:t>Organização e controle</a:t>
            </a:r>
            <a:endParaRPr b="0" lang="pt-BR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7"/>
          <p:cNvSpPr/>
          <p:nvPr/>
        </p:nvSpPr>
        <p:spPr>
          <a:xfrm>
            <a:off x="1252800" y="2395800"/>
            <a:ext cx="96739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80" spc="-1" strike="noStrike">
                <a:solidFill>
                  <a:srgbClr val="171b25"/>
                </a:solidFill>
                <a:latin typeface="Inter"/>
                <a:ea typeface="Inter"/>
              </a:rPr>
              <a:t>Facilita a divisão das tarefas e dá mais controle ao fluxo de alterações.</a:t>
            </a:r>
            <a:endParaRPr b="0" lang="pt-BR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8"/>
          <p:cNvSpPr/>
          <p:nvPr/>
        </p:nvSpPr>
        <p:spPr>
          <a:xfrm>
            <a:off x="1024200" y="3182040"/>
            <a:ext cx="10131120" cy="1215720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92" name="Shape 9"/>
          <p:cNvSpPr/>
          <p:nvPr/>
        </p:nvSpPr>
        <p:spPr>
          <a:xfrm>
            <a:off x="1024200" y="3182040"/>
            <a:ext cx="60120" cy="1215720"/>
          </a:xfrm>
          <a:prstGeom prst="rect">
            <a:avLst/>
          </a:prstGeom>
          <a:solidFill>
            <a:srgbClr val="55179d"/>
          </a:solidFill>
          <a:ln w="12700">
            <a:solidFill>
              <a:srgbClr val="55179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93" name="Text 10"/>
          <p:cNvSpPr/>
          <p:nvPr/>
        </p:nvSpPr>
        <p:spPr>
          <a:xfrm>
            <a:off x="1252800" y="3346560"/>
            <a:ext cx="969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55179d"/>
                </a:solidFill>
                <a:latin typeface="Inter"/>
                <a:ea typeface="Inter"/>
              </a:rPr>
              <a:t>Supervisão técnica</a:t>
            </a:r>
            <a:endParaRPr b="0" lang="pt-BR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11"/>
          <p:cNvSpPr/>
          <p:nvPr/>
        </p:nvSpPr>
        <p:spPr>
          <a:xfrm>
            <a:off x="1252800" y="3858840"/>
            <a:ext cx="96739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80" spc="-1" strike="noStrike">
                <a:solidFill>
                  <a:srgbClr val="171b25"/>
                </a:solidFill>
                <a:latin typeface="Inter"/>
                <a:ea typeface="Inter"/>
              </a:rPr>
              <a:t>Ajuda líderes técnicos e responsáveis pelos releases a acompanhar a integração do código.</a:t>
            </a:r>
            <a:endParaRPr b="0" lang="pt-BR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12"/>
          <p:cNvSpPr/>
          <p:nvPr/>
        </p:nvSpPr>
        <p:spPr>
          <a:xfrm>
            <a:off x="1024200" y="4645080"/>
            <a:ext cx="10131120" cy="1215720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96" name="Shape 13"/>
          <p:cNvSpPr/>
          <p:nvPr/>
        </p:nvSpPr>
        <p:spPr>
          <a:xfrm>
            <a:off x="1024200" y="4645080"/>
            <a:ext cx="60120" cy="121572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97" name="Text 14"/>
          <p:cNvSpPr/>
          <p:nvPr/>
        </p:nvSpPr>
        <p:spPr>
          <a:xfrm>
            <a:off x="1252800" y="4809600"/>
            <a:ext cx="969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0dbab5"/>
                </a:solidFill>
                <a:latin typeface="Inter"/>
                <a:ea typeface="Inter"/>
              </a:rPr>
              <a:t>Desenvolvimento paralelo</a:t>
            </a:r>
            <a:endParaRPr b="0" lang="pt-BR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15"/>
          <p:cNvSpPr/>
          <p:nvPr/>
        </p:nvSpPr>
        <p:spPr>
          <a:xfrm>
            <a:off x="1252800" y="5321880"/>
            <a:ext cx="96739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80" spc="-1" strike="noStrike">
                <a:solidFill>
                  <a:srgbClr val="171b25"/>
                </a:solidFill>
                <a:latin typeface="Inter"/>
                <a:ea typeface="Inter"/>
              </a:rPr>
              <a:t>Permite desenvolver funcionalidades sem interromper a linha usada em produção.</a:t>
            </a:r>
            <a:endParaRPr b="0" lang="pt-BR" sz="1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500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01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BRANCHES PRINCIPAIS (FIXAS)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22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4"/>
          <p:cNvSpPr/>
          <p:nvPr/>
        </p:nvSpPr>
        <p:spPr>
          <a:xfrm>
            <a:off x="841320" y="1901880"/>
            <a:ext cx="5019840" cy="3364560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05" name="Shape 5"/>
          <p:cNvSpPr/>
          <p:nvPr/>
        </p:nvSpPr>
        <p:spPr>
          <a:xfrm>
            <a:off x="841320" y="1901880"/>
            <a:ext cx="60120" cy="3364560"/>
          </a:xfrm>
          <a:prstGeom prst="rect">
            <a:avLst/>
          </a:prstGeom>
          <a:solidFill>
            <a:srgbClr val="55179d"/>
          </a:solidFill>
          <a:ln w="12700">
            <a:solidFill>
              <a:srgbClr val="55179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06" name="Text 6"/>
          <p:cNvSpPr/>
          <p:nvPr/>
        </p:nvSpPr>
        <p:spPr>
          <a:xfrm>
            <a:off x="1069920" y="2066400"/>
            <a:ext cx="4580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55179d"/>
                </a:solidFill>
                <a:latin typeface="Inter"/>
                <a:ea typeface="Inter"/>
              </a:rPr>
              <a:t>main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7"/>
          <p:cNvSpPr/>
          <p:nvPr/>
        </p:nvSpPr>
        <p:spPr>
          <a:xfrm>
            <a:off x="1069920" y="2578680"/>
            <a:ext cx="4562640" cy="25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20" spc="-1" strike="noStrike">
                <a:solidFill>
                  <a:srgbClr val="171b25"/>
                </a:solidFill>
                <a:latin typeface="Inter"/>
                <a:ea typeface="Inter"/>
              </a:rPr>
              <a:t>Onde fica o código de produção.</a:t>
            </a:r>
            <a:endParaRPr b="0" lang="pt-BR" sz="17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7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20" spc="-1" strike="noStrike">
                <a:solidFill>
                  <a:srgbClr val="171b25"/>
                </a:solidFill>
                <a:latin typeface="Inter"/>
                <a:ea typeface="Inter"/>
              </a:rPr>
              <a:t>Representa uma versão estável, aprovada e utilizada pelos usuários.</a:t>
            </a:r>
            <a:endParaRPr b="0" lang="pt-BR" sz="17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7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20" spc="-1" strike="noStrike">
                <a:solidFill>
                  <a:srgbClr val="171b25"/>
                </a:solidFill>
                <a:latin typeface="Inter"/>
                <a:ea typeface="Inter"/>
              </a:rPr>
              <a:t>No modelo Git Flow, mudanças para produção são integradas nessa branch.</a:t>
            </a:r>
            <a:endParaRPr b="0" lang="pt-BR" sz="1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8"/>
          <p:cNvSpPr/>
          <p:nvPr/>
        </p:nvSpPr>
        <p:spPr>
          <a:xfrm>
            <a:off x="6190560" y="1901880"/>
            <a:ext cx="5019840" cy="3364560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09" name="Shape 9"/>
          <p:cNvSpPr/>
          <p:nvPr/>
        </p:nvSpPr>
        <p:spPr>
          <a:xfrm>
            <a:off x="6190560" y="1901880"/>
            <a:ext cx="60120" cy="336456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10" name="Text 10"/>
          <p:cNvSpPr/>
          <p:nvPr/>
        </p:nvSpPr>
        <p:spPr>
          <a:xfrm>
            <a:off x="6419160" y="2066400"/>
            <a:ext cx="4580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0dbab5"/>
                </a:solidFill>
                <a:latin typeface="Inter"/>
                <a:ea typeface="Inter"/>
              </a:rPr>
              <a:t>develop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11"/>
          <p:cNvSpPr/>
          <p:nvPr/>
        </p:nvSpPr>
        <p:spPr>
          <a:xfrm>
            <a:off x="6419160" y="2578680"/>
            <a:ext cx="4562640" cy="25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20" spc="-1" strike="noStrike">
                <a:solidFill>
                  <a:srgbClr val="171b25"/>
                </a:solidFill>
                <a:latin typeface="Inter"/>
                <a:ea typeface="Inter"/>
              </a:rPr>
              <a:t>Onde fica o código que está sendo preparado para a próxima versão.</a:t>
            </a:r>
            <a:endParaRPr b="0" lang="pt-BR" sz="17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7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20" spc="-1" strike="noStrike">
                <a:solidFill>
                  <a:srgbClr val="171b25"/>
                </a:solidFill>
                <a:latin typeface="Inter"/>
                <a:ea typeface="Inter"/>
              </a:rPr>
              <a:t>Integra funcionalidades em desenvolvimento antes da homologação e do lançamento.</a:t>
            </a:r>
            <a:endParaRPr b="0" lang="pt-BR" sz="1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12"/>
          <p:cNvSpPr/>
          <p:nvPr/>
        </p:nvSpPr>
        <p:spPr>
          <a:xfrm>
            <a:off x="1152000" y="5605200"/>
            <a:ext cx="9856800" cy="456840"/>
          </a:xfrm>
          <a:prstGeom prst="roundRect">
            <a:avLst>
              <a:gd name="adj" fmla="val 18000"/>
            </a:avLst>
          </a:prstGeom>
          <a:solidFill>
            <a:srgbClr val="f1e7fd"/>
          </a:solidFill>
          <a:ln w="12700">
            <a:solidFill>
              <a:srgbClr val="f1e7f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13" name="Text 13"/>
          <p:cNvSpPr/>
          <p:nvPr/>
        </p:nvSpPr>
        <p:spPr>
          <a:xfrm>
            <a:off x="1234440" y="5641920"/>
            <a:ext cx="9692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5179d"/>
                </a:solidFill>
                <a:latin typeface="Inter"/>
                <a:ea typeface="Inter"/>
              </a:rPr>
              <a:t>main = produção estável       •       develop = integração do desenvolvimento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515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16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BRANCHES DE SUPORTE (I)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23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4"/>
          <p:cNvSpPr/>
          <p:nvPr/>
        </p:nvSpPr>
        <p:spPr>
          <a:xfrm>
            <a:off x="868680" y="1810440"/>
            <a:ext cx="10487880" cy="190152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20" name="Shape 5"/>
          <p:cNvSpPr/>
          <p:nvPr/>
        </p:nvSpPr>
        <p:spPr>
          <a:xfrm>
            <a:off x="868680" y="1810440"/>
            <a:ext cx="60120" cy="190152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21" name="Text 6"/>
          <p:cNvSpPr/>
          <p:nvPr/>
        </p:nvSpPr>
        <p:spPr>
          <a:xfrm>
            <a:off x="1097280" y="1974960"/>
            <a:ext cx="10049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dbab5"/>
                </a:solidFill>
                <a:latin typeface="Inter"/>
                <a:ea typeface="Inter"/>
              </a:rPr>
              <a:t>Feature / Funcionalidade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Text 7"/>
          <p:cNvSpPr/>
          <p:nvPr/>
        </p:nvSpPr>
        <p:spPr>
          <a:xfrm>
            <a:off x="1097280" y="2487240"/>
            <a:ext cx="1003068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71b25"/>
                </a:solidFill>
                <a:latin typeface="Inter"/>
                <a:ea typeface="Inter"/>
              </a:rPr>
              <a:t>Usada para desenvolver uma funcionalidade específica. Quando finalizada, suas mudanças são integradas à develop.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8"/>
          <p:cNvSpPr/>
          <p:nvPr/>
        </p:nvSpPr>
        <p:spPr>
          <a:xfrm>
            <a:off x="1325880" y="3081600"/>
            <a:ext cx="4800240" cy="338040"/>
          </a:xfrm>
          <a:prstGeom prst="roundRect">
            <a:avLst>
              <a:gd name="adj" fmla="val 24324"/>
            </a:avLst>
          </a:prstGeom>
          <a:solidFill>
            <a:srgbClr val="e4f8f6"/>
          </a:solidFill>
          <a:ln w="12700">
            <a:solidFill>
              <a:srgbClr val="e4f8f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24" name="Text 9"/>
          <p:cNvSpPr/>
          <p:nvPr/>
        </p:nvSpPr>
        <p:spPr>
          <a:xfrm>
            <a:off x="1408320" y="3117960"/>
            <a:ext cx="4635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bab5"/>
                </a:solidFill>
                <a:latin typeface="Inter"/>
                <a:ea typeface="Inter"/>
              </a:rPr>
              <a:t>Origem: develop   →   Destino: develop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10"/>
          <p:cNvSpPr/>
          <p:nvPr/>
        </p:nvSpPr>
        <p:spPr>
          <a:xfrm>
            <a:off x="868680" y="4014360"/>
            <a:ext cx="10487880" cy="186516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26" name="Shape 11"/>
          <p:cNvSpPr/>
          <p:nvPr/>
        </p:nvSpPr>
        <p:spPr>
          <a:xfrm>
            <a:off x="868680" y="4014360"/>
            <a:ext cx="60120" cy="1865160"/>
          </a:xfrm>
          <a:prstGeom prst="rect">
            <a:avLst/>
          </a:prstGeom>
          <a:solidFill>
            <a:srgbClr val="55179d"/>
          </a:solidFill>
          <a:ln w="12700">
            <a:solidFill>
              <a:srgbClr val="55179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27" name="Text 12"/>
          <p:cNvSpPr/>
          <p:nvPr/>
        </p:nvSpPr>
        <p:spPr>
          <a:xfrm>
            <a:off x="1097280" y="4178880"/>
            <a:ext cx="10049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55179d"/>
                </a:solidFill>
                <a:latin typeface="Inter"/>
                <a:ea typeface="Inter"/>
              </a:rPr>
              <a:t>Release / Lançamento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13"/>
          <p:cNvSpPr/>
          <p:nvPr/>
        </p:nvSpPr>
        <p:spPr>
          <a:xfrm>
            <a:off x="1097280" y="4690800"/>
            <a:ext cx="1003068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70" spc="-1" strike="noStrike">
                <a:solidFill>
                  <a:srgbClr val="171b25"/>
                </a:solidFill>
                <a:latin typeface="Inter"/>
                <a:ea typeface="Inter"/>
              </a:rPr>
              <a:t>Prepara uma nova versão de produção: homologação, testes e ajustes finais. Depois da aprovação, integra-se à main e à develop.</a:t>
            </a:r>
            <a:endParaRPr b="0" lang="pt-BR" sz="1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14"/>
          <p:cNvSpPr/>
          <p:nvPr/>
        </p:nvSpPr>
        <p:spPr>
          <a:xfrm>
            <a:off x="1325880" y="5285160"/>
            <a:ext cx="5714640" cy="347040"/>
          </a:xfrm>
          <a:prstGeom prst="roundRect">
            <a:avLst>
              <a:gd name="adj" fmla="val 23684"/>
            </a:avLst>
          </a:prstGeom>
          <a:solidFill>
            <a:srgbClr val="f1e7fd"/>
          </a:solidFill>
          <a:ln w="12700">
            <a:solidFill>
              <a:srgbClr val="f1e7f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30" name="Text 15"/>
          <p:cNvSpPr/>
          <p:nvPr/>
        </p:nvSpPr>
        <p:spPr>
          <a:xfrm>
            <a:off x="1408320" y="5321880"/>
            <a:ext cx="555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5179d"/>
                </a:solidFill>
                <a:latin typeface="Inter"/>
                <a:ea typeface="Inter"/>
              </a:rPr>
              <a:t>Origem: develop   →   Destinos: main e develop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532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33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BRANCHES DE SUPORTE (II)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24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4"/>
          <p:cNvSpPr/>
          <p:nvPr/>
        </p:nvSpPr>
        <p:spPr>
          <a:xfrm>
            <a:off x="868680" y="1810440"/>
            <a:ext cx="10487880" cy="190152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37" name="Shape 5"/>
          <p:cNvSpPr/>
          <p:nvPr/>
        </p:nvSpPr>
        <p:spPr>
          <a:xfrm>
            <a:off x="868680" y="1810440"/>
            <a:ext cx="60120" cy="1901520"/>
          </a:xfrm>
          <a:prstGeom prst="rect">
            <a:avLst/>
          </a:prstGeom>
          <a:solidFill>
            <a:srgbClr val="dd6262"/>
          </a:solidFill>
          <a:ln w="12700">
            <a:solidFill>
              <a:srgbClr val="dd626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38" name="Text 6"/>
          <p:cNvSpPr/>
          <p:nvPr/>
        </p:nvSpPr>
        <p:spPr>
          <a:xfrm>
            <a:off x="1097280" y="1974960"/>
            <a:ext cx="10049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dd6262"/>
                </a:solidFill>
                <a:latin typeface="Inter"/>
                <a:ea typeface="Inter"/>
              </a:rPr>
              <a:t>Bugfix / Correção de erro</a:t>
            </a:r>
            <a:endParaRPr b="0" lang="pt-BR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Text 7"/>
          <p:cNvSpPr/>
          <p:nvPr/>
        </p:nvSpPr>
        <p:spPr>
          <a:xfrm>
            <a:off x="1097280" y="2487240"/>
            <a:ext cx="1003068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1700" spc="-1" strike="noStrike">
                <a:solidFill>
                  <a:schemeClr val="dk1"/>
                </a:solidFill>
                <a:latin typeface="+mn-lt"/>
                <a:ea typeface="+mn-ea"/>
              </a:rPr>
              <a:t>Em equipes que adotam essa convenção, corrige erros na release antes da publicação oficial.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8"/>
          <p:cNvSpPr/>
          <p:nvPr/>
        </p:nvSpPr>
        <p:spPr>
          <a:xfrm>
            <a:off x="1307520" y="3108960"/>
            <a:ext cx="4845960" cy="328680"/>
          </a:xfrm>
          <a:prstGeom prst="roundRect">
            <a:avLst>
              <a:gd name="adj" fmla="val 25000"/>
            </a:avLst>
          </a:prstGeom>
          <a:solidFill>
            <a:srgbClr val="fbe9e9"/>
          </a:solidFill>
          <a:ln w="12700">
            <a:solidFill>
              <a:srgbClr val="fbe9e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41" name="Text 9"/>
          <p:cNvSpPr/>
          <p:nvPr/>
        </p:nvSpPr>
        <p:spPr>
          <a:xfrm>
            <a:off x="1389960" y="3145680"/>
            <a:ext cx="4681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dd6262"/>
                </a:solidFill>
                <a:latin typeface="Inter"/>
                <a:ea typeface="Inter"/>
              </a:rPr>
              <a:t>Origem: release   →   Destino: release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10"/>
          <p:cNvSpPr/>
          <p:nvPr/>
        </p:nvSpPr>
        <p:spPr>
          <a:xfrm>
            <a:off x="868680" y="4014360"/>
            <a:ext cx="10487880" cy="184680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43" name="Shape 11"/>
          <p:cNvSpPr/>
          <p:nvPr/>
        </p:nvSpPr>
        <p:spPr>
          <a:xfrm>
            <a:off x="868680" y="4014360"/>
            <a:ext cx="60120" cy="1846800"/>
          </a:xfrm>
          <a:prstGeom prst="rect">
            <a:avLst/>
          </a:prstGeom>
          <a:solidFill>
            <a:srgbClr val="ef9b1b"/>
          </a:solidFill>
          <a:ln w="12700">
            <a:solidFill>
              <a:srgbClr val="ef9b1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44" name="Text 12"/>
          <p:cNvSpPr/>
          <p:nvPr/>
        </p:nvSpPr>
        <p:spPr>
          <a:xfrm>
            <a:off x="1097280" y="4178880"/>
            <a:ext cx="10049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ef9b1b"/>
                </a:solidFill>
                <a:latin typeface="Inter"/>
                <a:ea typeface="Inter"/>
              </a:rPr>
              <a:t>Hotfix / Correção urgente</a:t>
            </a:r>
            <a:endParaRPr b="0" lang="pt-BR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 13"/>
          <p:cNvSpPr/>
          <p:nvPr/>
        </p:nvSpPr>
        <p:spPr>
          <a:xfrm>
            <a:off x="1097280" y="4690800"/>
            <a:ext cx="1003068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40" spc="-1" strike="noStrike">
                <a:solidFill>
                  <a:srgbClr val="171b25"/>
                </a:solidFill>
                <a:latin typeface="Inter"/>
                <a:ea typeface="Inter"/>
              </a:rPr>
              <a:t>Corrige rapidamente problemas críticos que já afetam os usuários em produção. A correção também precisa chegar à linha de desenvolvimento.</a:t>
            </a:r>
            <a:endParaRPr b="0" lang="pt-BR" sz="1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14"/>
          <p:cNvSpPr/>
          <p:nvPr/>
        </p:nvSpPr>
        <p:spPr>
          <a:xfrm>
            <a:off x="1307520" y="5303520"/>
            <a:ext cx="5696280" cy="328680"/>
          </a:xfrm>
          <a:prstGeom prst="roundRect">
            <a:avLst>
              <a:gd name="adj" fmla="val 25000"/>
            </a:avLst>
          </a:prstGeom>
          <a:solidFill>
            <a:srgbClr val="fff2db"/>
          </a:solidFill>
          <a:ln w="12700">
            <a:solidFill>
              <a:srgbClr val="fff2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47" name="Text 15"/>
          <p:cNvSpPr/>
          <p:nvPr/>
        </p:nvSpPr>
        <p:spPr>
          <a:xfrm>
            <a:off x="1389960" y="5340240"/>
            <a:ext cx="5531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ad7209"/>
                </a:solidFill>
                <a:latin typeface="Inter"/>
                <a:ea typeface="Inter"/>
              </a:rPr>
              <a:t>Origem: main   →   Destinos: main e develop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549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50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1" lang="pt-BR" sz="2230" spc="-1" strike="noStrike">
                <a:solidFill>
                  <a:srgbClr val="55179d"/>
                </a:solidFill>
                <a:latin typeface="Inter"/>
                <a:ea typeface="+mn-ea"/>
              </a:rPr>
              <a:t>GIT FLOW · MAPA DO PROCESSO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ext 2"/>
          <p:cNvSpPr/>
          <p:nvPr/>
        </p:nvSpPr>
        <p:spPr>
          <a:xfrm>
            <a:off x="713160" y="144468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pc="-1" strike="noStrike">
                <a:solidFill>
                  <a:srgbClr val="5c6576"/>
                </a:solidFill>
                <a:latin typeface="Inter"/>
                <a:ea typeface="Inter"/>
              </a:rPr>
              <a:t>Uma visão esquemática das ramificações utilizadas no Git Flow.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3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4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25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5"/>
          <p:cNvSpPr/>
          <p:nvPr/>
        </p:nvSpPr>
        <p:spPr>
          <a:xfrm>
            <a:off x="731520" y="1956960"/>
            <a:ext cx="1279800" cy="356400"/>
          </a:xfrm>
          <a:prstGeom prst="roundRect">
            <a:avLst>
              <a:gd name="adj" fmla="val 23077"/>
            </a:avLst>
          </a:prstGeom>
          <a:solidFill>
            <a:srgbClr val="55179d"/>
          </a:solidFill>
          <a:ln w="12700">
            <a:solidFill>
              <a:srgbClr val="55179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55" name="Text 6"/>
          <p:cNvSpPr/>
          <p:nvPr/>
        </p:nvSpPr>
        <p:spPr>
          <a:xfrm>
            <a:off x="813960" y="1993320"/>
            <a:ext cx="1115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10" spc="-1" strike="noStrike">
                <a:solidFill>
                  <a:srgbClr val="ffffff"/>
                </a:solidFill>
                <a:latin typeface="Inter"/>
                <a:ea typeface="Inter"/>
              </a:rPr>
              <a:t>MAIN</a:t>
            </a:r>
            <a:endParaRPr b="0" lang="pt-BR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7"/>
          <p:cNvSpPr/>
          <p:nvPr/>
        </p:nvSpPr>
        <p:spPr>
          <a:xfrm>
            <a:off x="2103120" y="2121120"/>
            <a:ext cx="9235440" cy="360"/>
          </a:xfrm>
          <a:prstGeom prst="line">
            <a:avLst/>
          </a:prstGeom>
          <a:ln w="18415">
            <a:solidFill>
              <a:srgbClr val="55179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57" name="Shape 8"/>
          <p:cNvSpPr/>
          <p:nvPr/>
        </p:nvSpPr>
        <p:spPr>
          <a:xfrm>
            <a:off x="731520" y="2670120"/>
            <a:ext cx="1279800" cy="356400"/>
          </a:xfrm>
          <a:prstGeom prst="roundRect">
            <a:avLst>
              <a:gd name="adj" fmla="val 23077"/>
            </a:avLst>
          </a:prstGeom>
          <a:solidFill>
            <a:srgbClr val="dd6262"/>
          </a:solidFill>
          <a:ln w="12700">
            <a:solidFill>
              <a:srgbClr val="dd626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58" name="Text 9"/>
          <p:cNvSpPr/>
          <p:nvPr/>
        </p:nvSpPr>
        <p:spPr>
          <a:xfrm>
            <a:off x="813960" y="2706480"/>
            <a:ext cx="1115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10" spc="-1" strike="noStrike">
                <a:solidFill>
                  <a:srgbClr val="ffffff"/>
                </a:solidFill>
                <a:latin typeface="Inter"/>
                <a:ea typeface="Inter"/>
              </a:rPr>
              <a:t>HOTFIX</a:t>
            </a:r>
            <a:endParaRPr b="0" lang="pt-BR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10"/>
          <p:cNvSpPr/>
          <p:nvPr/>
        </p:nvSpPr>
        <p:spPr>
          <a:xfrm>
            <a:off x="2103120" y="2834640"/>
            <a:ext cx="9235440" cy="360"/>
          </a:xfrm>
          <a:prstGeom prst="line">
            <a:avLst/>
          </a:prstGeom>
          <a:ln w="18415">
            <a:solidFill>
              <a:srgbClr val="dd626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60" name="Shape 11"/>
          <p:cNvSpPr/>
          <p:nvPr/>
        </p:nvSpPr>
        <p:spPr>
          <a:xfrm>
            <a:off x="731520" y="3392280"/>
            <a:ext cx="1279800" cy="356400"/>
          </a:xfrm>
          <a:prstGeom prst="roundRect">
            <a:avLst>
              <a:gd name="adj" fmla="val 23077"/>
            </a:avLst>
          </a:prstGeom>
          <a:solidFill>
            <a:srgbClr val="ef9b1b"/>
          </a:solidFill>
          <a:ln w="12700">
            <a:solidFill>
              <a:srgbClr val="ef9b1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61" name="Text 12"/>
          <p:cNvSpPr/>
          <p:nvPr/>
        </p:nvSpPr>
        <p:spPr>
          <a:xfrm>
            <a:off x="813960" y="3429000"/>
            <a:ext cx="1115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10" spc="-1" strike="noStrike">
                <a:solidFill>
                  <a:srgbClr val="ffffff"/>
                </a:solidFill>
                <a:latin typeface="Inter"/>
                <a:ea typeface="Inter"/>
              </a:rPr>
              <a:t>RELEASE</a:t>
            </a:r>
            <a:endParaRPr b="0" lang="pt-BR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13"/>
          <p:cNvSpPr/>
          <p:nvPr/>
        </p:nvSpPr>
        <p:spPr>
          <a:xfrm>
            <a:off x="2103120" y="3556800"/>
            <a:ext cx="9235440" cy="360"/>
          </a:xfrm>
          <a:prstGeom prst="line">
            <a:avLst/>
          </a:prstGeom>
          <a:ln w="18415">
            <a:solidFill>
              <a:srgbClr val="ef9b1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63" name="Shape 14"/>
          <p:cNvSpPr/>
          <p:nvPr/>
        </p:nvSpPr>
        <p:spPr>
          <a:xfrm>
            <a:off x="731520" y="4114800"/>
            <a:ext cx="1279800" cy="356400"/>
          </a:xfrm>
          <a:prstGeom prst="roundRect">
            <a:avLst>
              <a:gd name="adj" fmla="val 23077"/>
            </a:avLst>
          </a:prstGeom>
          <a:solidFill>
            <a:srgbClr val="128cda"/>
          </a:solidFill>
          <a:ln w="12700">
            <a:solidFill>
              <a:srgbClr val="128cd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64" name="Text 15"/>
          <p:cNvSpPr/>
          <p:nvPr/>
        </p:nvSpPr>
        <p:spPr>
          <a:xfrm>
            <a:off x="813960" y="4151520"/>
            <a:ext cx="1115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10" spc="-1" strike="noStrike">
                <a:solidFill>
                  <a:srgbClr val="ffffff"/>
                </a:solidFill>
                <a:latin typeface="Inter"/>
                <a:ea typeface="Inter"/>
              </a:rPr>
              <a:t>DEVELOP</a:t>
            </a:r>
            <a:endParaRPr b="0" lang="pt-BR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16"/>
          <p:cNvSpPr/>
          <p:nvPr/>
        </p:nvSpPr>
        <p:spPr>
          <a:xfrm>
            <a:off x="2103120" y="4279320"/>
            <a:ext cx="9235440" cy="360"/>
          </a:xfrm>
          <a:prstGeom prst="line">
            <a:avLst/>
          </a:prstGeom>
          <a:ln w="18415">
            <a:solidFill>
              <a:srgbClr val="128cd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66" name="Shape 17"/>
          <p:cNvSpPr/>
          <p:nvPr/>
        </p:nvSpPr>
        <p:spPr>
          <a:xfrm>
            <a:off x="731520" y="4837320"/>
            <a:ext cx="1279800" cy="356400"/>
          </a:xfrm>
          <a:prstGeom prst="roundRect">
            <a:avLst>
              <a:gd name="adj" fmla="val 23077"/>
            </a:avLst>
          </a:prstGeom>
          <a:solidFill>
            <a:srgbClr val="21a565"/>
          </a:solidFill>
          <a:ln w="12700">
            <a:solidFill>
              <a:srgbClr val="21a56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67" name="Text 18"/>
          <p:cNvSpPr/>
          <p:nvPr/>
        </p:nvSpPr>
        <p:spPr>
          <a:xfrm>
            <a:off x="813960" y="4873680"/>
            <a:ext cx="1115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10" spc="-1" strike="noStrike">
                <a:solidFill>
                  <a:srgbClr val="ffffff"/>
                </a:solidFill>
                <a:latin typeface="Inter"/>
                <a:ea typeface="Inter"/>
              </a:rPr>
              <a:t>FEATURES</a:t>
            </a:r>
            <a:endParaRPr b="0" lang="pt-BR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9"/>
          <p:cNvSpPr/>
          <p:nvPr/>
        </p:nvSpPr>
        <p:spPr>
          <a:xfrm>
            <a:off x="2103120" y="5001480"/>
            <a:ext cx="9235440" cy="360"/>
          </a:xfrm>
          <a:prstGeom prst="line">
            <a:avLst/>
          </a:prstGeom>
          <a:ln w="18415">
            <a:solidFill>
              <a:srgbClr val="21a56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69" name="Shape 20"/>
          <p:cNvSpPr/>
          <p:nvPr/>
        </p:nvSpPr>
        <p:spPr>
          <a:xfrm>
            <a:off x="2318040" y="2016360"/>
            <a:ext cx="209880" cy="209880"/>
          </a:xfrm>
          <a:prstGeom prst="ellipse">
            <a:avLst/>
          </a:prstGeom>
          <a:solidFill>
            <a:srgbClr val="55179d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70" name="Shape 21"/>
          <p:cNvSpPr/>
          <p:nvPr/>
        </p:nvSpPr>
        <p:spPr>
          <a:xfrm>
            <a:off x="5381280" y="2016360"/>
            <a:ext cx="209880" cy="209880"/>
          </a:xfrm>
          <a:prstGeom prst="ellipse">
            <a:avLst/>
          </a:prstGeom>
          <a:solidFill>
            <a:srgbClr val="55179d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71" name="Shape 22"/>
          <p:cNvSpPr/>
          <p:nvPr/>
        </p:nvSpPr>
        <p:spPr>
          <a:xfrm>
            <a:off x="9386280" y="2016360"/>
            <a:ext cx="209880" cy="209880"/>
          </a:xfrm>
          <a:prstGeom prst="ellipse">
            <a:avLst/>
          </a:prstGeom>
          <a:solidFill>
            <a:srgbClr val="55179d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72" name="Shape 23"/>
          <p:cNvSpPr/>
          <p:nvPr/>
        </p:nvSpPr>
        <p:spPr>
          <a:xfrm>
            <a:off x="10913400" y="2016360"/>
            <a:ext cx="209880" cy="209880"/>
          </a:xfrm>
          <a:prstGeom prst="ellipse">
            <a:avLst/>
          </a:prstGeom>
          <a:solidFill>
            <a:srgbClr val="55179d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73" name="Shape 24"/>
          <p:cNvSpPr/>
          <p:nvPr/>
        </p:nvSpPr>
        <p:spPr>
          <a:xfrm>
            <a:off x="3278160" y="4174200"/>
            <a:ext cx="209880" cy="209880"/>
          </a:xfrm>
          <a:prstGeom prst="ellipse">
            <a:avLst/>
          </a:prstGeom>
          <a:solidFill>
            <a:srgbClr val="128cda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74" name="Shape 25"/>
          <p:cNvSpPr/>
          <p:nvPr/>
        </p:nvSpPr>
        <p:spPr>
          <a:xfrm>
            <a:off x="4558320" y="4174200"/>
            <a:ext cx="209880" cy="209880"/>
          </a:xfrm>
          <a:prstGeom prst="ellipse">
            <a:avLst/>
          </a:prstGeom>
          <a:solidFill>
            <a:srgbClr val="128cda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75" name="Shape 26"/>
          <p:cNvSpPr/>
          <p:nvPr/>
        </p:nvSpPr>
        <p:spPr>
          <a:xfrm>
            <a:off x="6478560" y="4174200"/>
            <a:ext cx="209880" cy="209880"/>
          </a:xfrm>
          <a:prstGeom prst="ellipse">
            <a:avLst/>
          </a:prstGeom>
          <a:solidFill>
            <a:srgbClr val="128cda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76" name="Shape 27"/>
          <p:cNvSpPr/>
          <p:nvPr/>
        </p:nvSpPr>
        <p:spPr>
          <a:xfrm>
            <a:off x="8124480" y="4174200"/>
            <a:ext cx="209880" cy="209880"/>
          </a:xfrm>
          <a:prstGeom prst="ellipse">
            <a:avLst/>
          </a:prstGeom>
          <a:solidFill>
            <a:srgbClr val="128cda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77" name="Shape 28"/>
          <p:cNvSpPr/>
          <p:nvPr/>
        </p:nvSpPr>
        <p:spPr>
          <a:xfrm>
            <a:off x="10136160" y="4174200"/>
            <a:ext cx="209880" cy="209880"/>
          </a:xfrm>
          <a:prstGeom prst="ellipse">
            <a:avLst/>
          </a:prstGeom>
          <a:solidFill>
            <a:srgbClr val="128cda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78" name="Shape 29"/>
          <p:cNvSpPr/>
          <p:nvPr/>
        </p:nvSpPr>
        <p:spPr>
          <a:xfrm>
            <a:off x="3552480" y="4896720"/>
            <a:ext cx="209880" cy="209880"/>
          </a:xfrm>
          <a:prstGeom prst="ellipse">
            <a:avLst/>
          </a:prstGeom>
          <a:solidFill>
            <a:srgbClr val="21a565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79" name="Shape 30"/>
          <p:cNvSpPr/>
          <p:nvPr/>
        </p:nvSpPr>
        <p:spPr>
          <a:xfrm>
            <a:off x="4174200" y="4896720"/>
            <a:ext cx="209880" cy="209880"/>
          </a:xfrm>
          <a:prstGeom prst="ellipse">
            <a:avLst/>
          </a:prstGeom>
          <a:solidFill>
            <a:srgbClr val="21a565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80" name="Shape 31"/>
          <p:cNvSpPr/>
          <p:nvPr/>
        </p:nvSpPr>
        <p:spPr>
          <a:xfrm>
            <a:off x="4869360" y="4896720"/>
            <a:ext cx="209880" cy="209880"/>
          </a:xfrm>
          <a:prstGeom prst="ellipse">
            <a:avLst/>
          </a:prstGeom>
          <a:solidFill>
            <a:srgbClr val="21a565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81" name="Shape 32"/>
          <p:cNvSpPr/>
          <p:nvPr/>
        </p:nvSpPr>
        <p:spPr>
          <a:xfrm>
            <a:off x="7530120" y="3452040"/>
            <a:ext cx="209880" cy="209880"/>
          </a:xfrm>
          <a:prstGeom prst="ellipse">
            <a:avLst/>
          </a:prstGeom>
          <a:solidFill>
            <a:srgbClr val="ef9b1b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82" name="Shape 33"/>
          <p:cNvSpPr/>
          <p:nvPr/>
        </p:nvSpPr>
        <p:spPr>
          <a:xfrm>
            <a:off x="8417160" y="3452040"/>
            <a:ext cx="209880" cy="209880"/>
          </a:xfrm>
          <a:prstGeom prst="ellipse">
            <a:avLst/>
          </a:prstGeom>
          <a:solidFill>
            <a:srgbClr val="ef9b1b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83" name="Shape 34"/>
          <p:cNvSpPr/>
          <p:nvPr/>
        </p:nvSpPr>
        <p:spPr>
          <a:xfrm>
            <a:off x="9678960" y="2729520"/>
            <a:ext cx="209880" cy="209880"/>
          </a:xfrm>
          <a:prstGeom prst="ellipse">
            <a:avLst/>
          </a:prstGeom>
          <a:solidFill>
            <a:srgbClr val="dd6262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84" name="Shape 35"/>
          <p:cNvSpPr/>
          <p:nvPr/>
        </p:nvSpPr>
        <p:spPr>
          <a:xfrm>
            <a:off x="2423160" y="2121120"/>
            <a:ext cx="539280" cy="2158200"/>
          </a:xfrm>
          <a:prstGeom prst="line">
            <a:avLst/>
          </a:prstGeom>
          <a:ln w="22860">
            <a:solidFill>
              <a:srgbClr val="5517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85" name="Shape 36"/>
          <p:cNvSpPr/>
          <p:nvPr/>
        </p:nvSpPr>
        <p:spPr>
          <a:xfrm>
            <a:off x="3383280" y="4279320"/>
            <a:ext cx="274320" cy="722160"/>
          </a:xfrm>
          <a:prstGeom prst="line">
            <a:avLst/>
          </a:prstGeom>
          <a:ln w="19050">
            <a:solidFill>
              <a:srgbClr val="21a5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86" name="Shape 37"/>
          <p:cNvSpPr/>
          <p:nvPr/>
        </p:nvSpPr>
        <p:spPr>
          <a:xfrm flipV="1">
            <a:off x="4974120" y="4279320"/>
            <a:ext cx="1609560" cy="722160"/>
          </a:xfrm>
          <a:prstGeom prst="line">
            <a:avLst/>
          </a:prstGeom>
          <a:ln w="20320">
            <a:solidFill>
              <a:srgbClr val="21a5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87" name="Shape 38"/>
          <p:cNvSpPr/>
          <p:nvPr/>
        </p:nvSpPr>
        <p:spPr>
          <a:xfrm flipV="1">
            <a:off x="6583680" y="3556800"/>
            <a:ext cx="1051560" cy="722520"/>
          </a:xfrm>
          <a:prstGeom prst="line">
            <a:avLst/>
          </a:prstGeom>
          <a:ln w="22860">
            <a:solidFill>
              <a:srgbClr val="ef9b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88" name="Shape 39"/>
          <p:cNvSpPr/>
          <p:nvPr/>
        </p:nvSpPr>
        <p:spPr>
          <a:xfrm flipV="1">
            <a:off x="8521920" y="2121120"/>
            <a:ext cx="969480" cy="1435680"/>
          </a:xfrm>
          <a:prstGeom prst="line">
            <a:avLst/>
          </a:prstGeom>
          <a:ln w="22860">
            <a:solidFill>
              <a:srgbClr val="ef9b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89" name="Shape 40"/>
          <p:cNvSpPr/>
          <p:nvPr/>
        </p:nvSpPr>
        <p:spPr>
          <a:xfrm>
            <a:off x="9491400" y="2121120"/>
            <a:ext cx="292680" cy="713520"/>
          </a:xfrm>
          <a:prstGeom prst="line">
            <a:avLst/>
          </a:prstGeom>
          <a:ln w="20320">
            <a:solidFill>
              <a:srgbClr val="dd62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90" name="Shape 41"/>
          <p:cNvSpPr/>
          <p:nvPr/>
        </p:nvSpPr>
        <p:spPr>
          <a:xfrm flipV="1">
            <a:off x="9784080" y="2121120"/>
            <a:ext cx="1234440" cy="713520"/>
          </a:xfrm>
          <a:prstGeom prst="line">
            <a:avLst/>
          </a:prstGeom>
          <a:ln w="20320">
            <a:solidFill>
              <a:srgbClr val="dd62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91" name="Shape 42"/>
          <p:cNvSpPr/>
          <p:nvPr/>
        </p:nvSpPr>
        <p:spPr>
          <a:xfrm>
            <a:off x="8521920" y="3556800"/>
            <a:ext cx="1719360" cy="722520"/>
          </a:xfrm>
          <a:prstGeom prst="line">
            <a:avLst/>
          </a:prstGeom>
          <a:ln w="17780">
            <a:solidFill>
              <a:srgbClr val="ef9b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92" name="Shape 43"/>
          <p:cNvSpPr/>
          <p:nvPr/>
        </p:nvSpPr>
        <p:spPr>
          <a:xfrm>
            <a:off x="1261800" y="5742360"/>
            <a:ext cx="9646560" cy="456840"/>
          </a:xfrm>
          <a:prstGeom prst="roundRect">
            <a:avLst>
              <a:gd name="adj" fmla="val 18000"/>
            </a:avLst>
          </a:prstGeom>
          <a:solidFill>
            <a:srgbClr val="f1e7fd"/>
          </a:solidFill>
          <a:ln w="12700">
            <a:solidFill>
              <a:srgbClr val="f1e7f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93" name="Text 44"/>
          <p:cNvSpPr/>
          <p:nvPr/>
        </p:nvSpPr>
        <p:spPr>
          <a:xfrm>
            <a:off x="1344240" y="5779080"/>
            <a:ext cx="9482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55179d"/>
                </a:solidFill>
                <a:latin typeface="Inter"/>
                <a:ea typeface="Inter"/>
              </a:rPr>
              <a:t>Cada branch possui uma origem, uma finalidade e uma forma de integração.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595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96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A HISTÓRIA DO SISTEMA DE PEDIDOS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26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4"/>
          <p:cNvSpPr/>
          <p:nvPr/>
        </p:nvSpPr>
        <p:spPr>
          <a:xfrm>
            <a:off x="841320" y="1609200"/>
            <a:ext cx="10496880" cy="1307160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00" name="Shape 5"/>
          <p:cNvSpPr/>
          <p:nvPr/>
        </p:nvSpPr>
        <p:spPr>
          <a:xfrm>
            <a:off x="841320" y="1609200"/>
            <a:ext cx="60120" cy="1307160"/>
          </a:xfrm>
          <a:prstGeom prst="rect">
            <a:avLst/>
          </a:prstGeom>
          <a:solidFill>
            <a:srgbClr val="55179d"/>
          </a:solidFill>
          <a:ln w="12700">
            <a:solidFill>
              <a:srgbClr val="55179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01" name="Text 6"/>
          <p:cNvSpPr/>
          <p:nvPr/>
        </p:nvSpPr>
        <p:spPr>
          <a:xfrm>
            <a:off x="1069920" y="177408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79" spc="-1" strike="noStrike">
                <a:solidFill>
                  <a:srgbClr val="55179d"/>
                </a:solidFill>
                <a:latin typeface="Inter"/>
                <a:ea typeface="Inter"/>
              </a:rPr>
              <a:t>Capítulo 1: A loja oficial (main)</a:t>
            </a:r>
            <a:endParaRPr b="0" lang="pt-BR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Text 7"/>
          <p:cNvSpPr/>
          <p:nvPr/>
        </p:nvSpPr>
        <p:spPr>
          <a:xfrm>
            <a:off x="1069920" y="2286000"/>
            <a:ext cx="100396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71b25"/>
                </a:solidFill>
                <a:latin typeface="Inter"/>
                <a:ea typeface="Inter"/>
              </a:rPr>
              <a:t>A main representa a loja funcionando para o público. Tudo foi testado e aprovado; erros aqui podem afetar usuários reais.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8"/>
          <p:cNvSpPr/>
          <p:nvPr/>
        </p:nvSpPr>
        <p:spPr>
          <a:xfrm>
            <a:off x="841320" y="3117960"/>
            <a:ext cx="10496880" cy="1307160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04" name="Shape 9"/>
          <p:cNvSpPr/>
          <p:nvPr/>
        </p:nvSpPr>
        <p:spPr>
          <a:xfrm>
            <a:off x="841320" y="3117960"/>
            <a:ext cx="60120" cy="130716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05" name="Text 10"/>
          <p:cNvSpPr/>
          <p:nvPr/>
        </p:nvSpPr>
        <p:spPr>
          <a:xfrm>
            <a:off x="1069920" y="32828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79" spc="-1" strike="noStrike">
                <a:solidFill>
                  <a:srgbClr val="0dbab5"/>
                </a:solidFill>
                <a:latin typeface="Inter"/>
                <a:ea typeface="Inter"/>
              </a:rPr>
              <a:t>Capítulo 2: A oficina interna (develop)</a:t>
            </a:r>
            <a:endParaRPr b="0" lang="pt-BR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 11"/>
          <p:cNvSpPr/>
          <p:nvPr/>
        </p:nvSpPr>
        <p:spPr>
          <a:xfrm>
            <a:off x="1069920" y="3794760"/>
            <a:ext cx="100396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71b25"/>
                </a:solidFill>
                <a:latin typeface="Inter"/>
                <a:ea typeface="Inter"/>
              </a:rPr>
              <a:t>A develop funciona como uma oficina onde a equipe reúne as próximas novidades antes de levá-las à produção.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12"/>
          <p:cNvSpPr/>
          <p:nvPr/>
        </p:nvSpPr>
        <p:spPr>
          <a:xfrm>
            <a:off x="841320" y="4626720"/>
            <a:ext cx="10496880" cy="1307160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08" name="Shape 13"/>
          <p:cNvSpPr/>
          <p:nvPr/>
        </p:nvSpPr>
        <p:spPr>
          <a:xfrm>
            <a:off x="841320" y="4626720"/>
            <a:ext cx="60120" cy="1307160"/>
          </a:xfrm>
          <a:prstGeom prst="rect">
            <a:avLst/>
          </a:prstGeom>
          <a:solidFill>
            <a:srgbClr val="128cda"/>
          </a:solidFill>
          <a:ln w="12700">
            <a:solidFill>
              <a:srgbClr val="128cd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09" name="Text 14"/>
          <p:cNvSpPr/>
          <p:nvPr/>
        </p:nvSpPr>
        <p:spPr>
          <a:xfrm>
            <a:off x="1069920" y="47916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79" spc="-1" strike="noStrike">
                <a:solidFill>
                  <a:srgbClr val="128cda"/>
                </a:solidFill>
                <a:latin typeface="Inter"/>
                <a:ea typeface="Inter"/>
              </a:rPr>
              <a:t>Capítulo 3: Nova funcionalidade (feature)</a:t>
            </a:r>
            <a:endParaRPr b="0" lang="pt-BR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15"/>
          <p:cNvSpPr/>
          <p:nvPr/>
        </p:nvSpPr>
        <p:spPr>
          <a:xfrm>
            <a:off x="1069920" y="5303520"/>
            <a:ext cx="100396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71b25"/>
                </a:solidFill>
                <a:latin typeface="Inter"/>
                <a:ea typeface="Inter"/>
              </a:rPr>
              <a:t>A feature/payment-system nasce a partir da develop. Após pronta, volta para a oficina para integração.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Image 0" descr="/mnt/data/a1_header_ligh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735840"/>
          </a:xfrm>
          <a:prstGeom prst="rect">
            <a:avLst/>
          </a:prstGeom>
          <a:ln w="0">
            <a:noFill/>
          </a:ln>
        </p:spPr>
      </p:pic>
      <p:sp>
        <p:nvSpPr>
          <p:cNvPr id="612" name="Shape 0"/>
          <p:cNvSpPr/>
          <p:nvPr/>
        </p:nvSpPr>
        <p:spPr>
          <a:xfrm>
            <a:off x="676800" y="937440"/>
            <a:ext cx="47160" cy="34704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13" name="Text 1"/>
          <p:cNvSpPr/>
          <p:nvPr/>
        </p:nvSpPr>
        <p:spPr>
          <a:xfrm>
            <a:off x="822960" y="914400"/>
            <a:ext cx="10698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30" spc="-1" strike="noStrike">
                <a:solidFill>
                  <a:srgbClr val="55179d"/>
                </a:solidFill>
                <a:latin typeface="Inter"/>
                <a:ea typeface="Inter"/>
              </a:rPr>
              <a:t>DO LANÇAMENTO À EMERGÊNCIA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 2"/>
          <p:cNvSpPr/>
          <p:nvPr/>
        </p:nvSpPr>
        <p:spPr>
          <a:xfrm>
            <a:off x="484560" y="6574680"/>
            <a:ext cx="4571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9a2ae"/>
                </a:solidFill>
                <a:latin typeface="Inter"/>
                <a:ea typeface="Inter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3"/>
          <p:cNvSpPr/>
          <p:nvPr/>
        </p:nvSpPr>
        <p:spPr>
          <a:xfrm>
            <a:off x="11475720" y="6556320"/>
            <a:ext cx="3106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27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4"/>
          <p:cNvSpPr/>
          <p:nvPr/>
        </p:nvSpPr>
        <p:spPr>
          <a:xfrm>
            <a:off x="841320" y="1609200"/>
            <a:ext cx="10496880" cy="1307160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17" name="Shape 5"/>
          <p:cNvSpPr/>
          <p:nvPr/>
        </p:nvSpPr>
        <p:spPr>
          <a:xfrm>
            <a:off x="841320" y="1609200"/>
            <a:ext cx="60120" cy="1307160"/>
          </a:xfrm>
          <a:prstGeom prst="rect">
            <a:avLst/>
          </a:prstGeom>
          <a:solidFill>
            <a:srgbClr val="55179d"/>
          </a:solidFill>
          <a:ln w="12700">
            <a:solidFill>
              <a:srgbClr val="55179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18" name="Text 6"/>
          <p:cNvSpPr/>
          <p:nvPr/>
        </p:nvSpPr>
        <p:spPr>
          <a:xfrm>
            <a:off x="1069920" y="177408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79" spc="-1" strike="noStrike">
                <a:solidFill>
                  <a:srgbClr val="55179d"/>
                </a:solidFill>
                <a:latin typeface="Inter"/>
                <a:ea typeface="Inter"/>
              </a:rPr>
              <a:t>Capítulo 4: Preparando o lançamento (release)</a:t>
            </a:r>
            <a:endParaRPr b="0" lang="pt-BR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7"/>
          <p:cNvSpPr/>
          <p:nvPr/>
        </p:nvSpPr>
        <p:spPr>
          <a:xfrm>
            <a:off x="1069920" y="2286000"/>
            <a:ext cx="100396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71b25"/>
                </a:solidFill>
                <a:latin typeface="Inter"/>
                <a:ea typeface="Inter"/>
              </a:rPr>
              <a:t>A equipe cria release/1.0 para revisar e testar tudo antes de liberar a loja. É a fase de homologação.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8"/>
          <p:cNvSpPr/>
          <p:nvPr/>
        </p:nvSpPr>
        <p:spPr>
          <a:xfrm>
            <a:off x="841320" y="3117960"/>
            <a:ext cx="10496880" cy="1307160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21" name="Shape 9"/>
          <p:cNvSpPr/>
          <p:nvPr/>
        </p:nvSpPr>
        <p:spPr>
          <a:xfrm>
            <a:off x="841320" y="3117960"/>
            <a:ext cx="60120" cy="1307160"/>
          </a:xfrm>
          <a:prstGeom prst="rect">
            <a:avLst/>
          </a:prstGeom>
          <a:solidFill>
            <a:srgbClr val="0dbab5"/>
          </a:solidFill>
          <a:ln w="12700">
            <a:solidFill>
              <a:srgbClr val="0dba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22" name="Text 10"/>
          <p:cNvSpPr/>
          <p:nvPr/>
        </p:nvSpPr>
        <p:spPr>
          <a:xfrm>
            <a:off x="1069920" y="32828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79" spc="-1" strike="noStrike">
                <a:solidFill>
                  <a:srgbClr val="0dbab5"/>
                </a:solidFill>
                <a:latin typeface="Inter"/>
                <a:ea typeface="Inter"/>
              </a:rPr>
              <a:t>Capítulo 5: O erro de última hora (bugfix)</a:t>
            </a:r>
            <a:endParaRPr b="0" lang="pt-BR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11"/>
          <p:cNvSpPr/>
          <p:nvPr/>
        </p:nvSpPr>
        <p:spPr>
          <a:xfrm>
            <a:off x="1069920" y="3794760"/>
            <a:ext cx="100396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71b25"/>
                </a:solidFill>
                <a:latin typeface="Inter"/>
                <a:ea typeface="Inter"/>
              </a:rPr>
              <a:t>Um erro no relatório é encontrado durante os testes da release. Uma bugfix corrige o problema antes do lançamento.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12"/>
          <p:cNvSpPr/>
          <p:nvPr/>
        </p:nvSpPr>
        <p:spPr>
          <a:xfrm>
            <a:off x="841320" y="4626720"/>
            <a:ext cx="10496880" cy="1307160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11430">
            <a:solidFill>
              <a:srgbClr val="de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25" name="Shape 13"/>
          <p:cNvSpPr/>
          <p:nvPr/>
        </p:nvSpPr>
        <p:spPr>
          <a:xfrm>
            <a:off x="841320" y="4626720"/>
            <a:ext cx="60120" cy="1307160"/>
          </a:xfrm>
          <a:prstGeom prst="rect">
            <a:avLst/>
          </a:prstGeom>
          <a:solidFill>
            <a:srgbClr val="ef9b1b"/>
          </a:solidFill>
          <a:ln w="12700">
            <a:solidFill>
              <a:srgbClr val="ef9b1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26" name="Text 14"/>
          <p:cNvSpPr/>
          <p:nvPr/>
        </p:nvSpPr>
        <p:spPr>
          <a:xfrm>
            <a:off x="1069920" y="47916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79" spc="-1" strike="noStrike">
                <a:solidFill>
                  <a:srgbClr val="ef9b1b"/>
                </a:solidFill>
                <a:latin typeface="Inter"/>
                <a:ea typeface="Inter"/>
              </a:rPr>
              <a:t>Capítulo 6: Emergência em produção (hotfix)</a:t>
            </a:r>
            <a:endParaRPr b="0" lang="pt-BR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15"/>
          <p:cNvSpPr/>
          <p:nvPr/>
        </p:nvSpPr>
        <p:spPr>
          <a:xfrm>
            <a:off x="1069920" y="5303520"/>
            <a:ext cx="100396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71b25"/>
                </a:solidFill>
                <a:latin typeface="Inter"/>
                <a:ea typeface="Inter"/>
              </a:rPr>
              <a:t>A loja abriu, mas o botão de pagamento parou! A hotfix nasce da main para corrigir o problema e depois atualiza a develop.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740160"/>
          </a:xfrm>
          <a:prstGeom prst="rect">
            <a:avLst/>
          </a:prstGeom>
          <a:ln w="0">
            <a:noFill/>
          </a:ln>
        </p:spPr>
      </p:pic>
      <p:sp>
        <p:nvSpPr>
          <p:cNvPr id="629" name="Rectangle 2"/>
          <p:cNvSpPr/>
          <p:nvPr/>
        </p:nvSpPr>
        <p:spPr>
          <a:xfrm>
            <a:off x="676800" y="932760"/>
            <a:ext cx="45360" cy="347040"/>
          </a:xfrm>
          <a:prstGeom prst="rect">
            <a:avLst/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30" name="TextBox 3"/>
          <p:cNvSpPr/>
          <p:nvPr/>
        </p:nvSpPr>
        <p:spPr>
          <a:xfrm>
            <a:off x="822960" y="941040"/>
            <a:ext cx="1069812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230" spc="-1" strike="noStrike">
                <a:solidFill>
                  <a:srgbClr val="55179d"/>
                </a:solidFill>
                <a:latin typeface="Inter"/>
                <a:ea typeface="+mn-ea"/>
              </a:rPr>
              <a:t>RESUMO FINAL: COMANDOS E COLABORAÇÃO</a:t>
            </a:r>
            <a:endParaRPr b="0" lang="pt-BR" sz="2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Box 4"/>
          <p:cNvSpPr/>
          <p:nvPr/>
        </p:nvSpPr>
        <p:spPr>
          <a:xfrm>
            <a:off x="713160" y="1499760"/>
            <a:ext cx="10881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320" spc="-1" strike="noStrike">
                <a:solidFill>
                  <a:srgbClr val="5c6576"/>
                </a:solidFill>
                <a:latin typeface="Inter"/>
                <a:ea typeface="+mn-ea"/>
              </a:rPr>
              <a:t>Principais conceitos que vocês podem levar para a próxima atividade.</a:t>
            </a:r>
            <a:endParaRPr b="0" lang="pt-BR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Box 5"/>
          <p:cNvSpPr/>
          <p:nvPr/>
        </p:nvSpPr>
        <p:spPr>
          <a:xfrm>
            <a:off x="484560" y="6553440"/>
            <a:ext cx="457164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60" spc="-1" strike="noStrike">
                <a:solidFill>
                  <a:srgbClr val="99a2ae"/>
                </a:solidFill>
                <a:latin typeface="Inter"/>
                <a:ea typeface="+mn-ea"/>
              </a:rPr>
              <a:t>Data Lab · Treinamento Técnico</a:t>
            </a:r>
            <a:endParaRPr b="0" lang="pt-BR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Box 6"/>
          <p:cNvSpPr/>
          <p:nvPr/>
        </p:nvSpPr>
        <p:spPr>
          <a:xfrm>
            <a:off x="11466720" y="6552000"/>
            <a:ext cx="32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780" spc="-1" strike="noStrike">
                <a:solidFill>
                  <a:srgbClr val="99a2ae"/>
                </a:solidFill>
                <a:latin typeface="Inter"/>
                <a:ea typeface="+mn-ea"/>
              </a:rPr>
              <a:t>28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Rounded Rectangle 7"/>
          <p:cNvSpPr/>
          <p:nvPr/>
        </p:nvSpPr>
        <p:spPr>
          <a:xfrm>
            <a:off x="749880" y="1856160"/>
            <a:ext cx="10716480" cy="429480"/>
          </a:xfrm>
          <a:prstGeom prst="roundRect">
            <a:avLst>
              <a:gd name="adj" fmla="val 7500"/>
            </a:avLst>
          </a:prstGeom>
          <a:solidFill>
            <a:srgbClr val="0dba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35" name="TextBox 8"/>
          <p:cNvSpPr/>
          <p:nvPr/>
        </p:nvSpPr>
        <p:spPr>
          <a:xfrm>
            <a:off x="951120" y="1949040"/>
            <a:ext cx="3931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Inter"/>
                <a:ea typeface="+mn-ea"/>
              </a:rPr>
              <a:t>COMANDO / CONCEITO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Box 9"/>
          <p:cNvSpPr/>
          <p:nvPr/>
        </p:nvSpPr>
        <p:spPr>
          <a:xfrm>
            <a:off x="4818960" y="1949040"/>
            <a:ext cx="6217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Inter"/>
                <a:ea typeface="+mn-ea"/>
              </a:rPr>
              <a:t>FINALIDADE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Rectangle 10"/>
          <p:cNvSpPr/>
          <p:nvPr/>
        </p:nvSpPr>
        <p:spPr>
          <a:xfrm>
            <a:off x="749880" y="2322720"/>
            <a:ext cx="10716480" cy="388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38" name="TextBox 11"/>
          <p:cNvSpPr/>
          <p:nvPr/>
        </p:nvSpPr>
        <p:spPr>
          <a:xfrm>
            <a:off x="969120" y="2391480"/>
            <a:ext cx="3730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20" spc="-1" strike="noStrike">
                <a:solidFill>
                  <a:srgbClr val="171b25"/>
                </a:solidFill>
                <a:latin typeface="Inter"/>
                <a:ea typeface="+mn-ea"/>
              </a:rPr>
              <a:t>git branch / git switch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Box 12"/>
          <p:cNvSpPr/>
          <p:nvPr/>
        </p:nvSpPr>
        <p:spPr>
          <a:xfrm>
            <a:off x="4809600" y="2392200"/>
            <a:ext cx="635472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10" spc="-1" strike="noStrike">
                <a:solidFill>
                  <a:srgbClr val="171b25"/>
                </a:solidFill>
                <a:latin typeface="Inter"/>
                <a:ea typeface="+mn-ea"/>
              </a:rPr>
              <a:t>Criar, listar e trocar de branches.</a:t>
            </a:r>
            <a:endParaRPr b="0" lang="pt-BR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Rectangle 13"/>
          <p:cNvSpPr/>
          <p:nvPr/>
        </p:nvSpPr>
        <p:spPr>
          <a:xfrm>
            <a:off x="749880" y="2724840"/>
            <a:ext cx="10716480" cy="388440"/>
          </a:xfrm>
          <a:prstGeom prst="rect">
            <a:avLst/>
          </a:prstGeom>
          <a:solidFill>
            <a:srgbClr val="e8e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41" name="TextBox 14"/>
          <p:cNvSpPr/>
          <p:nvPr/>
        </p:nvSpPr>
        <p:spPr>
          <a:xfrm>
            <a:off x="969120" y="2793600"/>
            <a:ext cx="3730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20" spc="-1" strike="noStrike">
                <a:solidFill>
                  <a:srgbClr val="171b25"/>
                </a:solidFill>
                <a:latin typeface="Inter"/>
                <a:ea typeface="+mn-ea"/>
              </a:rPr>
              <a:t>git merge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Box 15"/>
          <p:cNvSpPr/>
          <p:nvPr/>
        </p:nvSpPr>
        <p:spPr>
          <a:xfrm>
            <a:off x="4809600" y="2794320"/>
            <a:ext cx="635472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10" spc="-1" strike="noStrike">
                <a:solidFill>
                  <a:srgbClr val="171b25"/>
                </a:solidFill>
                <a:latin typeface="Inter"/>
                <a:ea typeface="+mn-ea"/>
              </a:rPr>
              <a:t>Integrar alterações de uma branch em outra.</a:t>
            </a:r>
            <a:endParaRPr b="0" lang="pt-BR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Rectangle 16"/>
          <p:cNvSpPr/>
          <p:nvPr/>
        </p:nvSpPr>
        <p:spPr>
          <a:xfrm>
            <a:off x="749880" y="3127320"/>
            <a:ext cx="10716480" cy="388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44" name="TextBox 17"/>
          <p:cNvSpPr/>
          <p:nvPr/>
        </p:nvSpPr>
        <p:spPr>
          <a:xfrm>
            <a:off x="969120" y="3196080"/>
            <a:ext cx="3730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220" spc="-1" strike="noStrike">
                <a:solidFill>
                  <a:srgbClr val="55179d"/>
                </a:solidFill>
                <a:latin typeface="Inter"/>
                <a:ea typeface="+mn-ea"/>
              </a:rPr>
              <a:t>Issues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Box 18"/>
          <p:cNvSpPr/>
          <p:nvPr/>
        </p:nvSpPr>
        <p:spPr>
          <a:xfrm>
            <a:off x="4809600" y="3196800"/>
            <a:ext cx="635472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10" spc="-1" strike="noStrike">
                <a:solidFill>
                  <a:srgbClr val="171b25"/>
                </a:solidFill>
                <a:latin typeface="Inter"/>
                <a:ea typeface="+mn-ea"/>
              </a:rPr>
              <a:t>Registrar tarefas, bugs e melhorias.</a:t>
            </a:r>
            <a:endParaRPr b="0" lang="pt-BR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Rectangle 19"/>
          <p:cNvSpPr/>
          <p:nvPr/>
        </p:nvSpPr>
        <p:spPr>
          <a:xfrm>
            <a:off x="749880" y="3529440"/>
            <a:ext cx="10716480" cy="388440"/>
          </a:xfrm>
          <a:prstGeom prst="rect">
            <a:avLst/>
          </a:prstGeom>
          <a:solidFill>
            <a:srgbClr val="e8e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47" name="TextBox 20"/>
          <p:cNvSpPr/>
          <p:nvPr/>
        </p:nvSpPr>
        <p:spPr>
          <a:xfrm>
            <a:off x="969120" y="3598200"/>
            <a:ext cx="3730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220" spc="-1" strike="noStrike">
                <a:solidFill>
                  <a:srgbClr val="55179d"/>
                </a:solidFill>
                <a:latin typeface="Inter"/>
                <a:ea typeface="+mn-ea"/>
              </a:rPr>
              <a:t>Pull Request + review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TextBox 21"/>
          <p:cNvSpPr/>
          <p:nvPr/>
        </p:nvSpPr>
        <p:spPr>
          <a:xfrm>
            <a:off x="4809600" y="3598920"/>
            <a:ext cx="635472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10" spc="-1" strike="noStrike">
                <a:solidFill>
                  <a:srgbClr val="171b25"/>
                </a:solidFill>
                <a:latin typeface="Inter"/>
                <a:ea typeface="+mn-ea"/>
              </a:rPr>
              <a:t>Propor mudanças, discutir, revisar e integrar.</a:t>
            </a:r>
            <a:endParaRPr b="0" lang="pt-BR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Rectangle 22"/>
          <p:cNvSpPr/>
          <p:nvPr/>
        </p:nvSpPr>
        <p:spPr>
          <a:xfrm>
            <a:off x="749880" y="3931920"/>
            <a:ext cx="10716480" cy="388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50" name="TextBox 23"/>
          <p:cNvSpPr/>
          <p:nvPr/>
        </p:nvSpPr>
        <p:spPr>
          <a:xfrm>
            <a:off x="969120" y="4000680"/>
            <a:ext cx="3730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20" spc="-1" strike="noStrike">
                <a:solidFill>
                  <a:srgbClr val="171b25"/>
                </a:solidFill>
                <a:latin typeface="Inter"/>
                <a:ea typeface="+mn-ea"/>
              </a:rPr>
              <a:t>Conflitos de merge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TextBox 24"/>
          <p:cNvSpPr/>
          <p:nvPr/>
        </p:nvSpPr>
        <p:spPr>
          <a:xfrm>
            <a:off x="4809600" y="4001400"/>
            <a:ext cx="635472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10" spc="-1" strike="noStrike">
                <a:solidFill>
                  <a:srgbClr val="171b25"/>
                </a:solidFill>
                <a:latin typeface="Inter"/>
                <a:ea typeface="+mn-ea"/>
              </a:rPr>
              <a:t>Resolver alterações incompatíveis em um arquivo.</a:t>
            </a:r>
            <a:endParaRPr b="0" lang="pt-BR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Rectangle 25"/>
          <p:cNvSpPr/>
          <p:nvPr/>
        </p:nvSpPr>
        <p:spPr>
          <a:xfrm>
            <a:off x="749880" y="4334400"/>
            <a:ext cx="10716480" cy="388440"/>
          </a:xfrm>
          <a:prstGeom prst="rect">
            <a:avLst/>
          </a:prstGeom>
          <a:solidFill>
            <a:srgbClr val="e8e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53" name="TextBox 26"/>
          <p:cNvSpPr/>
          <p:nvPr/>
        </p:nvSpPr>
        <p:spPr>
          <a:xfrm>
            <a:off x="969120" y="4403160"/>
            <a:ext cx="3730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20" spc="-1" strike="noStrike">
                <a:solidFill>
                  <a:srgbClr val="171b25"/>
                </a:solidFill>
                <a:latin typeface="Inter"/>
                <a:ea typeface="+mn-ea"/>
              </a:rPr>
              <a:t>.gitignore / git rm --cached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Box 27"/>
          <p:cNvSpPr/>
          <p:nvPr/>
        </p:nvSpPr>
        <p:spPr>
          <a:xfrm>
            <a:off x="4809600" y="4403880"/>
            <a:ext cx="635472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10" spc="-1" strike="noStrike">
                <a:solidFill>
                  <a:srgbClr val="171b25"/>
                </a:solidFill>
                <a:latin typeface="Inter"/>
                <a:ea typeface="+mn-ea"/>
              </a:rPr>
              <a:t>Ignorar arquivos novos / parar de rastrear.</a:t>
            </a:r>
            <a:endParaRPr b="0" lang="pt-BR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Rectangle 28"/>
          <p:cNvSpPr/>
          <p:nvPr/>
        </p:nvSpPr>
        <p:spPr>
          <a:xfrm>
            <a:off x="749880" y="4736520"/>
            <a:ext cx="10716480" cy="388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56" name="TextBox 29"/>
          <p:cNvSpPr/>
          <p:nvPr/>
        </p:nvSpPr>
        <p:spPr>
          <a:xfrm>
            <a:off x="969120" y="4805280"/>
            <a:ext cx="3730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20" spc="-1" strike="noStrike">
                <a:solidFill>
                  <a:srgbClr val="171b25"/>
                </a:solidFill>
                <a:latin typeface="Inter"/>
                <a:ea typeface="+mn-ea"/>
              </a:rPr>
              <a:t>git stash / pop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TextBox 30"/>
          <p:cNvSpPr/>
          <p:nvPr/>
        </p:nvSpPr>
        <p:spPr>
          <a:xfrm>
            <a:off x="4809600" y="4806000"/>
            <a:ext cx="635472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10" spc="-1" strike="noStrike">
                <a:solidFill>
                  <a:srgbClr val="171b25"/>
                </a:solidFill>
                <a:latin typeface="Inter"/>
                <a:ea typeface="+mn-ea"/>
              </a:rPr>
              <a:t>Guardar e reaplicar alterações temporárias.</a:t>
            </a:r>
            <a:endParaRPr b="0" lang="pt-BR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Rectangle 31"/>
          <p:cNvSpPr/>
          <p:nvPr/>
        </p:nvSpPr>
        <p:spPr>
          <a:xfrm>
            <a:off x="749880" y="5139000"/>
            <a:ext cx="10716480" cy="388440"/>
          </a:xfrm>
          <a:prstGeom prst="rect">
            <a:avLst/>
          </a:prstGeom>
          <a:solidFill>
            <a:srgbClr val="e8e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59" name="TextBox 32"/>
          <p:cNvSpPr/>
          <p:nvPr/>
        </p:nvSpPr>
        <p:spPr>
          <a:xfrm>
            <a:off x="969120" y="5207760"/>
            <a:ext cx="3730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20" spc="-1" strike="noStrike">
                <a:solidFill>
                  <a:srgbClr val="171b25"/>
                </a:solidFill>
                <a:latin typeface="Inter"/>
                <a:ea typeface="+mn-ea"/>
              </a:rPr>
              <a:t>git reset / git revert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TextBox 33"/>
          <p:cNvSpPr/>
          <p:nvPr/>
        </p:nvSpPr>
        <p:spPr>
          <a:xfrm>
            <a:off x="4809600" y="5208480"/>
            <a:ext cx="635472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10" spc="-1" strike="noStrike">
                <a:solidFill>
                  <a:srgbClr val="171b25"/>
                </a:solidFill>
                <a:latin typeface="Inter"/>
                <a:ea typeface="+mn-ea"/>
              </a:rPr>
              <a:t>Reorganizar histórico local / desfazer com novo commit.</a:t>
            </a:r>
            <a:endParaRPr b="0" lang="pt-BR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Rectangle 34"/>
          <p:cNvSpPr/>
          <p:nvPr/>
        </p:nvSpPr>
        <p:spPr>
          <a:xfrm>
            <a:off x="749880" y="5541120"/>
            <a:ext cx="10716480" cy="388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62" name="TextBox 35"/>
          <p:cNvSpPr/>
          <p:nvPr/>
        </p:nvSpPr>
        <p:spPr>
          <a:xfrm>
            <a:off x="969120" y="5609880"/>
            <a:ext cx="3730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220" spc="-1" strike="noStrike">
                <a:solidFill>
                  <a:srgbClr val="55179d"/>
                </a:solidFill>
                <a:latin typeface="Inter"/>
                <a:ea typeface="+mn-ea"/>
              </a:rPr>
              <a:t>Git Flow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Box 36"/>
          <p:cNvSpPr/>
          <p:nvPr/>
        </p:nvSpPr>
        <p:spPr>
          <a:xfrm>
            <a:off x="4809600" y="5610600"/>
            <a:ext cx="635472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10" spc="-1" strike="noStrike">
                <a:solidFill>
                  <a:srgbClr val="171b25"/>
                </a:solidFill>
                <a:latin typeface="Inter"/>
                <a:ea typeface="+mn-ea"/>
              </a:rPr>
              <a:t>Modelo opcional de organização de branches e releases.</a:t>
            </a:r>
            <a:endParaRPr b="0" lang="pt-BR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Rounded Rectangle 37"/>
          <p:cNvSpPr/>
          <p:nvPr/>
        </p:nvSpPr>
        <p:spPr>
          <a:xfrm>
            <a:off x="1197720" y="6080760"/>
            <a:ext cx="9802080" cy="292320"/>
          </a:xfrm>
          <a:prstGeom prst="roundRect">
            <a:avLst>
              <a:gd name="adj" fmla="val 7500"/>
            </a:avLst>
          </a:prstGeom>
          <a:solidFill>
            <a:srgbClr val="f3e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65" name="TextBox 38"/>
          <p:cNvSpPr/>
          <p:nvPr/>
        </p:nvSpPr>
        <p:spPr>
          <a:xfrm>
            <a:off x="1362600" y="6111360"/>
            <a:ext cx="948204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3040" bIns="2304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160" spc="-1" strike="noStrike">
                <a:solidFill>
                  <a:srgbClr val="55179d"/>
                </a:solidFill>
                <a:latin typeface="Inter"/>
                <a:ea typeface="+mn-ea"/>
              </a:rPr>
              <a:t>O mais importante: trabalhar com segurança e comunicar bem as alterações.</a:t>
            </a:r>
            <a:endParaRPr b="0" lang="pt-BR" sz="11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2026-10-13T18:19:03Z</dcterms:created>
  <dc:creator>DataLab</dc:creator>
  <dc:description/>
  <dc:language>pt-BR</dc:language>
  <cp:lastModifiedBy/>
  <dcterms:modified xsi:type="dcterms:W3CDTF">2026-10-14T20:49:22Z</dcterms:modified>
  <cp:revision>2</cp:revision>
  <dc:subject>DataLab - Minicurso Git e GitHub: Aula 2</dc:subject>
  <dc:title>Git &amp; GitHub — Aula 2 | Colaboração e Fluxos Avançados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26</vt:i4>
  </property>
  <property fmtid="{D5CDD505-2E9C-101B-9397-08002B2CF9AE}" pid="3" name="PresentationFormat">
    <vt:lpwstr>On-screen Show (16:9)</vt:lpwstr>
  </property>
  <property fmtid="{D5CDD505-2E9C-101B-9397-08002B2CF9AE}" pid="4" name="Slides">
    <vt:i4>26</vt:i4>
  </property>
</Properties>
</file>